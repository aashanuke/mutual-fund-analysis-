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6" r:id="rId9"/>
    <p:sldId id="260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64B43-3F8B-4EF7-A69C-FF8644953761}" v="608" dt="2026-06-11T10:25:43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BDDD3-F6FE-467B-939D-B385D4D16A4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CC7163CD-E71C-470A-A83E-C989CB423B23}">
      <dgm:prSet phldrT="[Text]" phldr="0"/>
      <dgm:spPr/>
      <dgm:t>
        <a:bodyPr/>
        <a:lstStyle/>
        <a:p>
          <a:r>
            <a:rPr lang="en-US" b="1">
              <a:latin typeface="Times New Roman"/>
              <a:cs typeface="Times New Roman"/>
            </a:rPr>
            <a:t>Insights</a:t>
          </a:r>
        </a:p>
      </dgm:t>
    </dgm:pt>
    <dgm:pt modelId="{5B7E3488-4D67-4F40-99FE-C3A40B11702F}" type="parTrans" cxnId="{CEA8D81E-4182-415F-A0F1-ED9693A2D6B3}">
      <dgm:prSet/>
      <dgm:spPr/>
    </dgm:pt>
    <dgm:pt modelId="{2649F168-DAC7-410F-AADA-16F1AAFD5BE2}" type="sibTrans" cxnId="{CEA8D81E-4182-415F-A0F1-ED9693A2D6B3}">
      <dgm:prSet/>
      <dgm:spPr/>
      <dgm:t>
        <a:bodyPr/>
        <a:lstStyle/>
        <a:p>
          <a:endParaRPr lang="en-US"/>
        </a:p>
      </dgm:t>
    </dgm:pt>
    <dgm:pt modelId="{A26B4EDC-DFC5-4F9B-BCF8-9EA21C4A03F4}">
      <dgm:prSet phldrT="[Text]" phldr="0"/>
      <dgm:spPr/>
      <dgm:t>
        <a:bodyPr/>
        <a:lstStyle/>
        <a:p>
          <a:pPr algn="l" rtl="0"/>
          <a:r>
            <a:rPr lang="en-US">
              <a:latin typeface="Times New Roman"/>
              <a:cs typeface="Times New Roman"/>
            </a:rPr>
            <a:t>   </a:t>
          </a:r>
          <a:r>
            <a:rPr lang="en-US" b="1">
              <a:latin typeface="Times New Roman"/>
              <a:cs typeface="Times New Roman"/>
            </a:rPr>
            <a:t>Raw Data</a:t>
          </a:r>
          <a:endParaRPr lang="en-US" b="1" dirty="0">
            <a:latin typeface="Times New Roman"/>
            <a:cs typeface="Times New Roman"/>
          </a:endParaRPr>
        </a:p>
      </dgm:t>
    </dgm:pt>
    <dgm:pt modelId="{90431BFE-7A12-4B85-8AFE-6D0311DEF731}" type="parTrans" cxnId="{D78FF046-E032-4123-B2D8-372A772C6491}">
      <dgm:prSet/>
      <dgm:spPr/>
    </dgm:pt>
    <dgm:pt modelId="{53D2A395-7C1A-4728-8080-EE8B6722EB21}" type="sibTrans" cxnId="{D78FF046-E032-4123-B2D8-372A772C6491}">
      <dgm:prSet/>
      <dgm:spPr/>
      <dgm:t>
        <a:bodyPr/>
        <a:lstStyle/>
        <a:p>
          <a:endParaRPr lang="en-US"/>
        </a:p>
      </dgm:t>
    </dgm:pt>
    <dgm:pt modelId="{1C3DC957-4FD1-4642-8C5F-EA64C68DF26B}">
      <dgm:prSet phldrT="[Text]" phldr="0"/>
      <dgm:spPr/>
      <dgm:t>
        <a:bodyPr/>
        <a:lstStyle/>
        <a:p>
          <a:pPr algn="l" rtl="0"/>
          <a:r>
            <a:rPr lang="en-US" b="1">
              <a:latin typeface="Times New Roman"/>
              <a:cs typeface="Times New Roman"/>
            </a:rPr>
            <a:t>   Analytics</a:t>
          </a:r>
          <a:endParaRPr lang="en-US" b="1" dirty="0">
            <a:latin typeface="Times New Roman"/>
            <a:cs typeface="Times New Roman"/>
          </a:endParaRPr>
        </a:p>
      </dgm:t>
    </dgm:pt>
    <dgm:pt modelId="{9B2023C8-4D52-4CEC-B683-05D037DA3833}" type="parTrans" cxnId="{F60B8D5E-E8E4-40EA-917B-73F9D188A665}">
      <dgm:prSet/>
      <dgm:spPr/>
    </dgm:pt>
    <dgm:pt modelId="{5954B77C-86D7-47B2-B2EC-F39BAF922578}" type="sibTrans" cxnId="{F60B8D5E-E8E4-40EA-917B-73F9D188A665}">
      <dgm:prSet/>
      <dgm:spPr/>
      <dgm:t>
        <a:bodyPr/>
        <a:lstStyle/>
        <a:p>
          <a:endParaRPr lang="en-US"/>
        </a:p>
      </dgm:t>
    </dgm:pt>
    <dgm:pt modelId="{2E64CA76-8EF9-42DA-8634-75EDDC284855}">
      <dgm:prSet phldrT="[Text]" phldr="0"/>
      <dgm:spPr/>
      <dgm:t>
        <a:bodyPr/>
        <a:lstStyle/>
        <a:p>
          <a:pPr algn="l" rtl="0"/>
          <a:r>
            <a:rPr lang="en-US" b="1">
              <a:latin typeface="Times New Roman"/>
              <a:cs typeface="Times New Roman"/>
            </a:rPr>
            <a:t>  Dashboard</a:t>
          </a:r>
          <a:endParaRPr lang="en-US" b="1" dirty="0">
            <a:latin typeface="Times New Roman"/>
            <a:cs typeface="Times New Roman"/>
          </a:endParaRPr>
        </a:p>
      </dgm:t>
    </dgm:pt>
    <dgm:pt modelId="{18FBCD6E-90B9-4339-9EFF-ED8B2EEF2B16}" type="parTrans" cxnId="{A7526A42-3771-4882-B800-D216DA146B7E}">
      <dgm:prSet/>
      <dgm:spPr/>
    </dgm:pt>
    <dgm:pt modelId="{E6A4B441-579E-4842-8814-2C03EE5FC0F9}" type="sibTrans" cxnId="{A7526A42-3771-4882-B800-D216DA146B7E}">
      <dgm:prSet/>
      <dgm:spPr/>
      <dgm:t>
        <a:bodyPr/>
        <a:lstStyle/>
        <a:p>
          <a:endParaRPr lang="en-US"/>
        </a:p>
      </dgm:t>
    </dgm:pt>
    <dgm:pt modelId="{051868E1-702A-455B-B50D-0C08F74F5889}">
      <dgm:prSet phldrT="[Text]" phldr="0"/>
      <dgm:spPr/>
      <dgm:t>
        <a:bodyPr/>
        <a:lstStyle/>
        <a:p>
          <a:r>
            <a:rPr lang="en-US" b="1">
              <a:latin typeface="Times New Roman"/>
              <a:cs typeface="Times New Roman"/>
            </a:rPr>
            <a:t>Cleaning</a:t>
          </a:r>
          <a:endParaRPr lang="en-US" b="1" dirty="0">
            <a:latin typeface="Times New Roman"/>
            <a:cs typeface="Times New Roman"/>
          </a:endParaRPr>
        </a:p>
      </dgm:t>
    </dgm:pt>
    <dgm:pt modelId="{18D05C0F-4966-440D-914E-035C3A0E8B0A}" type="parTrans" cxnId="{4D7C2EF8-C83B-4F8E-98FF-D32EA33CD4FE}">
      <dgm:prSet/>
      <dgm:spPr/>
    </dgm:pt>
    <dgm:pt modelId="{0A0EFC4C-88FD-474F-A270-79605E51BA32}" type="sibTrans" cxnId="{4D7C2EF8-C83B-4F8E-98FF-D32EA33CD4FE}">
      <dgm:prSet/>
      <dgm:spPr/>
      <dgm:t>
        <a:bodyPr/>
        <a:lstStyle/>
        <a:p>
          <a:endParaRPr lang="en-US"/>
        </a:p>
      </dgm:t>
    </dgm:pt>
    <dgm:pt modelId="{AD8E4E11-64C9-414F-989F-13D2E4365346}">
      <dgm:prSet phldrT="[Text]" phldr="0"/>
      <dgm:spPr/>
      <dgm:t>
        <a:bodyPr/>
        <a:lstStyle/>
        <a:p>
          <a:pPr algn="l" rtl="0"/>
          <a:r>
            <a:rPr lang="en-US" b="1" i="1" u="sng" dirty="0">
              <a:latin typeface="Times New Roman"/>
              <a:cs typeface="Times New Roman"/>
            </a:rPr>
            <a:t>Data source</a:t>
          </a:r>
        </a:p>
      </dgm:t>
    </dgm:pt>
    <dgm:pt modelId="{CAD514B0-5592-496B-82B1-2174273AFFA4}" type="parTrans" cxnId="{8FB82CF5-4570-4E54-A5A0-BD834244281C}">
      <dgm:prSet/>
      <dgm:spPr/>
    </dgm:pt>
    <dgm:pt modelId="{68E10B44-05FB-4760-8521-73FC6A4BB2A9}" type="sibTrans" cxnId="{8FB82CF5-4570-4E54-A5A0-BD834244281C}">
      <dgm:prSet/>
      <dgm:spPr/>
      <dgm:t>
        <a:bodyPr/>
        <a:lstStyle/>
        <a:p>
          <a:endParaRPr lang="en-US"/>
        </a:p>
      </dgm:t>
    </dgm:pt>
    <dgm:pt modelId="{5A42C3D9-1587-49E2-991E-24633AC5F821}" type="pres">
      <dgm:prSet presAssocID="{DF9BDDD3-F6FE-467B-939D-B385D4D16A49}" presName="linearFlow" presStyleCnt="0">
        <dgm:presLayoutVars>
          <dgm:resizeHandles val="exact"/>
        </dgm:presLayoutVars>
      </dgm:prSet>
      <dgm:spPr/>
    </dgm:pt>
    <dgm:pt modelId="{ADACE850-EB3C-4600-BFC2-40510DC409F6}" type="pres">
      <dgm:prSet presAssocID="{AD8E4E11-64C9-414F-989F-13D2E4365346}" presName="node" presStyleLbl="node1" presStyleIdx="0" presStyleCnt="6">
        <dgm:presLayoutVars>
          <dgm:bulletEnabled val="1"/>
        </dgm:presLayoutVars>
      </dgm:prSet>
      <dgm:spPr/>
    </dgm:pt>
    <dgm:pt modelId="{00EE9A82-A42E-46A0-B491-726DC5E8BD5A}" type="pres">
      <dgm:prSet presAssocID="{68E10B44-05FB-4760-8521-73FC6A4BB2A9}" presName="sibTrans" presStyleLbl="sibTrans2D1" presStyleIdx="0" presStyleCnt="5"/>
      <dgm:spPr/>
    </dgm:pt>
    <dgm:pt modelId="{4A520BAD-043B-47DE-BBB7-92678EF435C7}" type="pres">
      <dgm:prSet presAssocID="{68E10B44-05FB-4760-8521-73FC6A4BB2A9}" presName="connectorText" presStyleLbl="sibTrans2D1" presStyleIdx="0" presStyleCnt="5"/>
      <dgm:spPr/>
    </dgm:pt>
    <dgm:pt modelId="{B2F97CA7-DCE0-4DE5-9E74-22C0777AACA1}" type="pres">
      <dgm:prSet presAssocID="{A26B4EDC-DFC5-4F9B-BCF8-9EA21C4A03F4}" presName="node" presStyleLbl="node1" presStyleIdx="1" presStyleCnt="6">
        <dgm:presLayoutVars>
          <dgm:bulletEnabled val="1"/>
        </dgm:presLayoutVars>
      </dgm:prSet>
      <dgm:spPr/>
    </dgm:pt>
    <dgm:pt modelId="{11848505-DF9E-459F-A8AB-EDC5F050EEE6}" type="pres">
      <dgm:prSet presAssocID="{53D2A395-7C1A-4728-8080-EE8B6722EB21}" presName="sibTrans" presStyleLbl="sibTrans2D1" presStyleIdx="1" presStyleCnt="5"/>
      <dgm:spPr/>
    </dgm:pt>
    <dgm:pt modelId="{59F5B575-8299-4779-91F2-B9D16C0E7E65}" type="pres">
      <dgm:prSet presAssocID="{53D2A395-7C1A-4728-8080-EE8B6722EB21}" presName="connectorText" presStyleLbl="sibTrans2D1" presStyleIdx="1" presStyleCnt="5"/>
      <dgm:spPr/>
    </dgm:pt>
    <dgm:pt modelId="{95A56642-B265-4FD4-B8E8-9DDC6D02DBB0}" type="pres">
      <dgm:prSet presAssocID="{051868E1-702A-455B-B50D-0C08F74F5889}" presName="node" presStyleLbl="node1" presStyleIdx="2" presStyleCnt="6">
        <dgm:presLayoutVars>
          <dgm:bulletEnabled val="1"/>
        </dgm:presLayoutVars>
      </dgm:prSet>
      <dgm:spPr/>
    </dgm:pt>
    <dgm:pt modelId="{1FAA43EF-5573-498C-9AE0-2A1377787EB7}" type="pres">
      <dgm:prSet presAssocID="{0A0EFC4C-88FD-474F-A270-79605E51BA32}" presName="sibTrans" presStyleLbl="sibTrans2D1" presStyleIdx="2" presStyleCnt="5"/>
      <dgm:spPr/>
    </dgm:pt>
    <dgm:pt modelId="{FD24F560-7D0F-436B-946B-1EB9D21E9B16}" type="pres">
      <dgm:prSet presAssocID="{0A0EFC4C-88FD-474F-A270-79605E51BA32}" presName="connectorText" presStyleLbl="sibTrans2D1" presStyleIdx="2" presStyleCnt="5"/>
      <dgm:spPr/>
    </dgm:pt>
    <dgm:pt modelId="{B8206E34-B238-407B-9F9C-FE0D107A2567}" type="pres">
      <dgm:prSet presAssocID="{1C3DC957-4FD1-4642-8C5F-EA64C68DF26B}" presName="node" presStyleLbl="node1" presStyleIdx="3" presStyleCnt="6">
        <dgm:presLayoutVars>
          <dgm:bulletEnabled val="1"/>
        </dgm:presLayoutVars>
      </dgm:prSet>
      <dgm:spPr/>
    </dgm:pt>
    <dgm:pt modelId="{D576AAC0-8B69-48B4-BD2F-6801AC69123A}" type="pres">
      <dgm:prSet presAssocID="{5954B77C-86D7-47B2-B2EC-F39BAF922578}" presName="sibTrans" presStyleLbl="sibTrans2D1" presStyleIdx="3" presStyleCnt="5"/>
      <dgm:spPr/>
    </dgm:pt>
    <dgm:pt modelId="{72A2D7CF-D7D0-4860-92ED-F707FE8433F7}" type="pres">
      <dgm:prSet presAssocID="{5954B77C-86D7-47B2-B2EC-F39BAF922578}" presName="connectorText" presStyleLbl="sibTrans2D1" presStyleIdx="3" presStyleCnt="5"/>
      <dgm:spPr/>
    </dgm:pt>
    <dgm:pt modelId="{18E1044B-74F5-4EC6-AA94-E0401F1FA7EB}" type="pres">
      <dgm:prSet presAssocID="{2E64CA76-8EF9-42DA-8634-75EDDC284855}" presName="node" presStyleLbl="node1" presStyleIdx="4" presStyleCnt="6">
        <dgm:presLayoutVars>
          <dgm:bulletEnabled val="1"/>
        </dgm:presLayoutVars>
      </dgm:prSet>
      <dgm:spPr/>
    </dgm:pt>
    <dgm:pt modelId="{3810B15C-E810-47FE-8ECE-903749236AF2}" type="pres">
      <dgm:prSet presAssocID="{E6A4B441-579E-4842-8814-2C03EE5FC0F9}" presName="sibTrans" presStyleLbl="sibTrans2D1" presStyleIdx="4" presStyleCnt="5"/>
      <dgm:spPr/>
    </dgm:pt>
    <dgm:pt modelId="{4AC816B0-2AF2-484C-9D0C-F9103B3A7D70}" type="pres">
      <dgm:prSet presAssocID="{E6A4B441-579E-4842-8814-2C03EE5FC0F9}" presName="connectorText" presStyleLbl="sibTrans2D1" presStyleIdx="4" presStyleCnt="5"/>
      <dgm:spPr/>
    </dgm:pt>
    <dgm:pt modelId="{CBBC74B7-6C26-409F-83B4-D0DF43084C59}" type="pres">
      <dgm:prSet presAssocID="{CC7163CD-E71C-470A-A83E-C989CB423B23}" presName="node" presStyleLbl="node1" presStyleIdx="5" presStyleCnt="6">
        <dgm:presLayoutVars>
          <dgm:bulletEnabled val="1"/>
        </dgm:presLayoutVars>
      </dgm:prSet>
      <dgm:spPr/>
    </dgm:pt>
  </dgm:ptLst>
  <dgm:cxnLst>
    <dgm:cxn modelId="{A64F2100-0BB3-408E-8E4B-DE468A167CEB}" type="presOf" srcId="{68E10B44-05FB-4760-8521-73FC6A4BB2A9}" destId="{4A520BAD-043B-47DE-BBB7-92678EF435C7}" srcOrd="1" destOrd="0" presId="urn:microsoft.com/office/officeart/2005/8/layout/process2"/>
    <dgm:cxn modelId="{2C16D108-FD4C-40AF-8914-E794A84B4484}" type="presOf" srcId="{53D2A395-7C1A-4728-8080-EE8B6722EB21}" destId="{11848505-DF9E-459F-A8AB-EDC5F050EEE6}" srcOrd="0" destOrd="0" presId="urn:microsoft.com/office/officeart/2005/8/layout/process2"/>
    <dgm:cxn modelId="{856D5711-B2C9-49F6-A979-61FC2FAEA528}" type="presOf" srcId="{5954B77C-86D7-47B2-B2EC-F39BAF922578}" destId="{72A2D7CF-D7D0-4860-92ED-F707FE8433F7}" srcOrd="1" destOrd="0" presId="urn:microsoft.com/office/officeart/2005/8/layout/process2"/>
    <dgm:cxn modelId="{CEA8D81E-4182-415F-A0F1-ED9693A2D6B3}" srcId="{DF9BDDD3-F6FE-467B-939D-B385D4D16A49}" destId="{CC7163CD-E71C-470A-A83E-C989CB423B23}" srcOrd="5" destOrd="0" parTransId="{5B7E3488-4D67-4F40-99FE-C3A40B11702F}" sibTransId="{2649F168-DAC7-410F-AADA-16F1AAFD5BE2}"/>
    <dgm:cxn modelId="{C5795733-08AE-4CAE-903D-9147B9EBAB6F}" type="presOf" srcId="{CC7163CD-E71C-470A-A83E-C989CB423B23}" destId="{CBBC74B7-6C26-409F-83B4-D0DF43084C59}" srcOrd="0" destOrd="0" presId="urn:microsoft.com/office/officeart/2005/8/layout/process2"/>
    <dgm:cxn modelId="{FDE1FF38-2CF9-4125-BC7F-BA5757F13440}" type="presOf" srcId="{051868E1-702A-455B-B50D-0C08F74F5889}" destId="{95A56642-B265-4FD4-B8E8-9DDC6D02DBB0}" srcOrd="0" destOrd="0" presId="urn:microsoft.com/office/officeart/2005/8/layout/process2"/>
    <dgm:cxn modelId="{7791DB5B-09DC-485F-945A-9A25576FA206}" type="presOf" srcId="{AD8E4E11-64C9-414F-989F-13D2E4365346}" destId="{ADACE850-EB3C-4600-BFC2-40510DC409F6}" srcOrd="0" destOrd="0" presId="urn:microsoft.com/office/officeart/2005/8/layout/process2"/>
    <dgm:cxn modelId="{F60B8D5E-E8E4-40EA-917B-73F9D188A665}" srcId="{DF9BDDD3-F6FE-467B-939D-B385D4D16A49}" destId="{1C3DC957-4FD1-4642-8C5F-EA64C68DF26B}" srcOrd="3" destOrd="0" parTransId="{9B2023C8-4D52-4CEC-B683-05D037DA3833}" sibTransId="{5954B77C-86D7-47B2-B2EC-F39BAF922578}"/>
    <dgm:cxn modelId="{58A98741-C986-4901-86E3-770A2C96E31C}" type="presOf" srcId="{0A0EFC4C-88FD-474F-A270-79605E51BA32}" destId="{FD24F560-7D0F-436B-946B-1EB9D21E9B16}" srcOrd="1" destOrd="0" presId="urn:microsoft.com/office/officeart/2005/8/layout/process2"/>
    <dgm:cxn modelId="{A7526A42-3771-4882-B800-D216DA146B7E}" srcId="{DF9BDDD3-F6FE-467B-939D-B385D4D16A49}" destId="{2E64CA76-8EF9-42DA-8634-75EDDC284855}" srcOrd="4" destOrd="0" parTransId="{18FBCD6E-90B9-4339-9EFF-ED8B2EEF2B16}" sibTransId="{E6A4B441-579E-4842-8814-2C03EE5FC0F9}"/>
    <dgm:cxn modelId="{63D2EE62-013C-44A0-A58C-4071CB04FEC9}" type="presOf" srcId="{A26B4EDC-DFC5-4F9B-BCF8-9EA21C4A03F4}" destId="{B2F97CA7-DCE0-4DE5-9E74-22C0777AACA1}" srcOrd="0" destOrd="0" presId="urn:microsoft.com/office/officeart/2005/8/layout/process2"/>
    <dgm:cxn modelId="{98CAA763-57EB-4E4C-9788-531A5E862B04}" type="presOf" srcId="{E6A4B441-579E-4842-8814-2C03EE5FC0F9}" destId="{3810B15C-E810-47FE-8ECE-903749236AF2}" srcOrd="0" destOrd="0" presId="urn:microsoft.com/office/officeart/2005/8/layout/process2"/>
    <dgm:cxn modelId="{D78FF046-E032-4123-B2D8-372A772C6491}" srcId="{DF9BDDD3-F6FE-467B-939D-B385D4D16A49}" destId="{A26B4EDC-DFC5-4F9B-BCF8-9EA21C4A03F4}" srcOrd="1" destOrd="0" parTransId="{90431BFE-7A12-4B85-8AFE-6D0311DEF731}" sibTransId="{53D2A395-7C1A-4728-8080-EE8B6722EB21}"/>
    <dgm:cxn modelId="{75348E79-D636-442D-BBFA-09A42DD9A5F9}" type="presOf" srcId="{1C3DC957-4FD1-4642-8C5F-EA64C68DF26B}" destId="{B8206E34-B238-407B-9F9C-FE0D107A2567}" srcOrd="0" destOrd="0" presId="urn:microsoft.com/office/officeart/2005/8/layout/process2"/>
    <dgm:cxn modelId="{5CA47E7B-1552-424F-9623-9F87B8B45C02}" type="presOf" srcId="{53D2A395-7C1A-4728-8080-EE8B6722EB21}" destId="{59F5B575-8299-4779-91F2-B9D16C0E7E65}" srcOrd="1" destOrd="0" presId="urn:microsoft.com/office/officeart/2005/8/layout/process2"/>
    <dgm:cxn modelId="{F255458C-4177-4462-886E-939706E96A3E}" type="presOf" srcId="{5954B77C-86D7-47B2-B2EC-F39BAF922578}" destId="{D576AAC0-8B69-48B4-BD2F-6801AC69123A}" srcOrd="0" destOrd="0" presId="urn:microsoft.com/office/officeart/2005/8/layout/process2"/>
    <dgm:cxn modelId="{BD3F7DA4-1619-4AD7-827D-C940E2E73FEE}" type="presOf" srcId="{2E64CA76-8EF9-42DA-8634-75EDDC284855}" destId="{18E1044B-74F5-4EC6-AA94-E0401F1FA7EB}" srcOrd="0" destOrd="0" presId="urn:microsoft.com/office/officeart/2005/8/layout/process2"/>
    <dgm:cxn modelId="{22CFF1BA-9ABC-41AD-BAFA-CF5E22D6A88C}" type="presOf" srcId="{0A0EFC4C-88FD-474F-A270-79605E51BA32}" destId="{1FAA43EF-5573-498C-9AE0-2A1377787EB7}" srcOrd="0" destOrd="0" presId="urn:microsoft.com/office/officeart/2005/8/layout/process2"/>
    <dgm:cxn modelId="{3C079DCA-B056-4DC7-9E4D-100AA7A66325}" type="presOf" srcId="{DF9BDDD3-F6FE-467B-939D-B385D4D16A49}" destId="{5A42C3D9-1587-49E2-991E-24633AC5F821}" srcOrd="0" destOrd="0" presId="urn:microsoft.com/office/officeart/2005/8/layout/process2"/>
    <dgm:cxn modelId="{8FB82CF5-4570-4E54-A5A0-BD834244281C}" srcId="{DF9BDDD3-F6FE-467B-939D-B385D4D16A49}" destId="{AD8E4E11-64C9-414F-989F-13D2E4365346}" srcOrd="0" destOrd="0" parTransId="{CAD514B0-5592-496B-82B1-2174273AFFA4}" sibTransId="{68E10B44-05FB-4760-8521-73FC6A4BB2A9}"/>
    <dgm:cxn modelId="{4D7C2EF8-C83B-4F8E-98FF-D32EA33CD4FE}" srcId="{DF9BDDD3-F6FE-467B-939D-B385D4D16A49}" destId="{051868E1-702A-455B-B50D-0C08F74F5889}" srcOrd="2" destOrd="0" parTransId="{18D05C0F-4966-440D-914E-035C3A0E8B0A}" sibTransId="{0A0EFC4C-88FD-474F-A270-79605E51BA32}"/>
    <dgm:cxn modelId="{0CA370FA-104F-43A9-A78A-D27CF1193314}" type="presOf" srcId="{E6A4B441-579E-4842-8814-2C03EE5FC0F9}" destId="{4AC816B0-2AF2-484C-9D0C-F9103B3A7D70}" srcOrd="1" destOrd="0" presId="urn:microsoft.com/office/officeart/2005/8/layout/process2"/>
    <dgm:cxn modelId="{621719FD-20CA-4B77-A5FF-CBEC05964C09}" type="presOf" srcId="{68E10B44-05FB-4760-8521-73FC6A4BB2A9}" destId="{00EE9A82-A42E-46A0-B491-726DC5E8BD5A}" srcOrd="0" destOrd="0" presId="urn:microsoft.com/office/officeart/2005/8/layout/process2"/>
    <dgm:cxn modelId="{0D434E88-683D-4C46-AD40-43BC258AC1F8}" type="presParOf" srcId="{5A42C3D9-1587-49E2-991E-24633AC5F821}" destId="{ADACE850-EB3C-4600-BFC2-40510DC409F6}" srcOrd="0" destOrd="0" presId="urn:microsoft.com/office/officeart/2005/8/layout/process2"/>
    <dgm:cxn modelId="{E9E7321E-8B81-4266-B012-F5EA00AFA7F9}" type="presParOf" srcId="{5A42C3D9-1587-49E2-991E-24633AC5F821}" destId="{00EE9A82-A42E-46A0-B491-726DC5E8BD5A}" srcOrd="1" destOrd="0" presId="urn:microsoft.com/office/officeart/2005/8/layout/process2"/>
    <dgm:cxn modelId="{967A5091-AC85-4EAC-9F6B-E412C332A440}" type="presParOf" srcId="{00EE9A82-A42E-46A0-B491-726DC5E8BD5A}" destId="{4A520BAD-043B-47DE-BBB7-92678EF435C7}" srcOrd="0" destOrd="0" presId="urn:microsoft.com/office/officeart/2005/8/layout/process2"/>
    <dgm:cxn modelId="{13EC8711-25AE-4979-81BD-EF484C902F34}" type="presParOf" srcId="{5A42C3D9-1587-49E2-991E-24633AC5F821}" destId="{B2F97CA7-DCE0-4DE5-9E74-22C0777AACA1}" srcOrd="2" destOrd="0" presId="urn:microsoft.com/office/officeart/2005/8/layout/process2"/>
    <dgm:cxn modelId="{29B9C628-DBB5-4CA3-9D05-33F94A1E84CC}" type="presParOf" srcId="{5A42C3D9-1587-49E2-991E-24633AC5F821}" destId="{11848505-DF9E-459F-A8AB-EDC5F050EEE6}" srcOrd="3" destOrd="0" presId="urn:microsoft.com/office/officeart/2005/8/layout/process2"/>
    <dgm:cxn modelId="{18031A40-989F-4CD0-99CF-424FA99E4D75}" type="presParOf" srcId="{11848505-DF9E-459F-A8AB-EDC5F050EEE6}" destId="{59F5B575-8299-4779-91F2-B9D16C0E7E65}" srcOrd="0" destOrd="0" presId="urn:microsoft.com/office/officeart/2005/8/layout/process2"/>
    <dgm:cxn modelId="{E4F1E78D-1A40-4957-96F9-D0DB930BA865}" type="presParOf" srcId="{5A42C3D9-1587-49E2-991E-24633AC5F821}" destId="{95A56642-B265-4FD4-B8E8-9DDC6D02DBB0}" srcOrd="4" destOrd="0" presId="urn:microsoft.com/office/officeart/2005/8/layout/process2"/>
    <dgm:cxn modelId="{B5D85594-1259-4FAC-8D08-A87DD180FB81}" type="presParOf" srcId="{5A42C3D9-1587-49E2-991E-24633AC5F821}" destId="{1FAA43EF-5573-498C-9AE0-2A1377787EB7}" srcOrd="5" destOrd="0" presId="urn:microsoft.com/office/officeart/2005/8/layout/process2"/>
    <dgm:cxn modelId="{6E6442F4-7CBD-49E8-8EF4-A67D09D72D12}" type="presParOf" srcId="{1FAA43EF-5573-498C-9AE0-2A1377787EB7}" destId="{FD24F560-7D0F-436B-946B-1EB9D21E9B16}" srcOrd="0" destOrd="0" presId="urn:microsoft.com/office/officeart/2005/8/layout/process2"/>
    <dgm:cxn modelId="{937F2CF6-A2CC-4E6F-BAC5-F5B41EC9E4E0}" type="presParOf" srcId="{5A42C3D9-1587-49E2-991E-24633AC5F821}" destId="{B8206E34-B238-407B-9F9C-FE0D107A2567}" srcOrd="6" destOrd="0" presId="urn:microsoft.com/office/officeart/2005/8/layout/process2"/>
    <dgm:cxn modelId="{2C601DB4-C7CA-4928-8467-48E5368549F3}" type="presParOf" srcId="{5A42C3D9-1587-49E2-991E-24633AC5F821}" destId="{D576AAC0-8B69-48B4-BD2F-6801AC69123A}" srcOrd="7" destOrd="0" presId="urn:microsoft.com/office/officeart/2005/8/layout/process2"/>
    <dgm:cxn modelId="{F50F384D-BD19-43FD-A503-A5821AE12CF3}" type="presParOf" srcId="{D576AAC0-8B69-48B4-BD2F-6801AC69123A}" destId="{72A2D7CF-D7D0-4860-92ED-F707FE8433F7}" srcOrd="0" destOrd="0" presId="urn:microsoft.com/office/officeart/2005/8/layout/process2"/>
    <dgm:cxn modelId="{C8792A0D-CFED-41F8-9DA8-091F40DE2A9E}" type="presParOf" srcId="{5A42C3D9-1587-49E2-991E-24633AC5F821}" destId="{18E1044B-74F5-4EC6-AA94-E0401F1FA7EB}" srcOrd="8" destOrd="0" presId="urn:microsoft.com/office/officeart/2005/8/layout/process2"/>
    <dgm:cxn modelId="{A3DF4A2D-62DE-445E-A4F2-DE1B7688ABE0}" type="presParOf" srcId="{5A42C3D9-1587-49E2-991E-24633AC5F821}" destId="{3810B15C-E810-47FE-8ECE-903749236AF2}" srcOrd="9" destOrd="0" presId="urn:microsoft.com/office/officeart/2005/8/layout/process2"/>
    <dgm:cxn modelId="{E8AFD261-C4E3-47DD-9178-54A73E5BD70B}" type="presParOf" srcId="{3810B15C-E810-47FE-8ECE-903749236AF2}" destId="{4AC816B0-2AF2-484C-9D0C-F9103B3A7D70}" srcOrd="0" destOrd="0" presId="urn:microsoft.com/office/officeart/2005/8/layout/process2"/>
    <dgm:cxn modelId="{CC430D2E-A284-4BC2-9A4A-993894D6C68F}" type="presParOf" srcId="{5A42C3D9-1587-49E2-991E-24633AC5F821}" destId="{CBBC74B7-6C26-409F-83B4-D0DF43084C59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120A74-E3C2-4019-BA0B-10F5FADBF5AE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58186FCF-2BF9-4406-BD43-6B34A3163C2C}">
      <dgm:prSet phldrT="[Text]" phldr="0"/>
      <dgm:spPr/>
      <dgm:t>
        <a:bodyPr/>
        <a:lstStyle/>
        <a:p>
          <a:pPr rtl="0"/>
          <a:r>
            <a:rPr lang="en-US" b="1">
              <a:latin typeface="Times New Roman"/>
              <a:cs typeface="Times New Roman"/>
            </a:rPr>
            <a:t>   Business Insights</a:t>
          </a:r>
        </a:p>
      </dgm:t>
    </dgm:pt>
    <dgm:pt modelId="{62B89345-D4F7-402B-9F63-918338AB79AB}" type="parTrans" cxnId="{B20A7358-838B-4E82-BD8D-7523FDEB6157}">
      <dgm:prSet/>
      <dgm:spPr/>
    </dgm:pt>
    <dgm:pt modelId="{1C4A9FA7-5DF5-49B5-ADA0-AF6CAFA9D807}" type="sibTrans" cxnId="{B20A7358-838B-4E82-BD8D-7523FDEB6157}">
      <dgm:prSet/>
      <dgm:spPr/>
      <dgm:t>
        <a:bodyPr/>
        <a:lstStyle/>
        <a:p>
          <a:endParaRPr lang="en-US"/>
        </a:p>
      </dgm:t>
    </dgm:pt>
    <dgm:pt modelId="{88D4D58A-DF37-40C1-9CAC-36BC97334CE9}">
      <dgm:prSet phldrT="[Text]" phldr="0"/>
      <dgm:spPr/>
      <dgm:t>
        <a:bodyPr/>
        <a:lstStyle/>
        <a:p>
          <a:pPr algn="l" rtl="0"/>
          <a:r>
            <a:rPr lang="en-US" b="1">
              <a:latin typeface="Times New Roman"/>
              <a:cs typeface="Times New Roman"/>
            </a:rPr>
            <a:t>         CSV Files</a:t>
          </a:r>
        </a:p>
      </dgm:t>
    </dgm:pt>
    <dgm:pt modelId="{698B05C2-F76F-4494-BD33-2BF5B5347FAC}" type="parTrans" cxnId="{3A9983C6-A6A3-461C-B601-E058A67D1F92}">
      <dgm:prSet/>
      <dgm:spPr/>
    </dgm:pt>
    <dgm:pt modelId="{59786090-04B2-47E7-A64D-2F2B167F2ACF}" type="sibTrans" cxnId="{3A9983C6-A6A3-461C-B601-E058A67D1F92}">
      <dgm:prSet/>
      <dgm:spPr/>
      <dgm:t>
        <a:bodyPr/>
        <a:lstStyle/>
        <a:p>
          <a:endParaRPr lang="en-US"/>
        </a:p>
      </dgm:t>
    </dgm:pt>
    <dgm:pt modelId="{464C65FF-F474-4CB1-AD9F-F255EBF509B3}">
      <dgm:prSet phldrT="[Text]" phldr="0"/>
      <dgm:spPr/>
      <dgm:t>
        <a:bodyPr/>
        <a:lstStyle/>
        <a:p>
          <a:pPr algn="l" rtl="0"/>
          <a:r>
            <a:rPr lang="en-US" b="1">
              <a:latin typeface="Times New Roman"/>
              <a:cs typeface="Times New Roman"/>
            </a:rPr>
            <a:t>        Python ETL</a:t>
          </a:r>
        </a:p>
      </dgm:t>
    </dgm:pt>
    <dgm:pt modelId="{8C3F0594-59E2-4D46-BA42-472CCC716B08}" type="parTrans" cxnId="{C8770C6B-B644-4082-9949-80BB0D85C71D}">
      <dgm:prSet/>
      <dgm:spPr/>
    </dgm:pt>
    <dgm:pt modelId="{6A931DA1-9FDB-4AB7-9460-2F2F39951CD6}" type="sibTrans" cxnId="{C8770C6B-B644-4082-9949-80BB0D85C71D}">
      <dgm:prSet/>
      <dgm:spPr/>
      <dgm:t>
        <a:bodyPr/>
        <a:lstStyle/>
        <a:p>
          <a:endParaRPr lang="en-US"/>
        </a:p>
      </dgm:t>
    </dgm:pt>
    <dgm:pt modelId="{8FB437BF-2167-4FE2-9266-135AAF5456E4}">
      <dgm:prSet phldrT="[Text]" phldr="0"/>
      <dgm:spPr/>
      <dgm:t>
        <a:bodyPr/>
        <a:lstStyle/>
        <a:p>
          <a:pPr algn="l" rtl="0"/>
          <a:r>
            <a:rPr lang="en-US" b="1">
              <a:latin typeface="Times New Roman"/>
              <a:cs typeface="Times New Roman"/>
            </a:rPr>
            <a:t>      Clean Datasets</a:t>
          </a:r>
        </a:p>
      </dgm:t>
    </dgm:pt>
    <dgm:pt modelId="{A2D129CA-D5C0-4193-90EB-4002030D8E26}" type="parTrans" cxnId="{C8D02A9C-A20E-4011-95B1-B38D62F0023A}">
      <dgm:prSet/>
      <dgm:spPr/>
    </dgm:pt>
    <dgm:pt modelId="{42146A84-F574-4909-96E7-B36155CE4A80}" type="sibTrans" cxnId="{C8D02A9C-A20E-4011-95B1-B38D62F0023A}">
      <dgm:prSet/>
      <dgm:spPr/>
      <dgm:t>
        <a:bodyPr/>
        <a:lstStyle/>
        <a:p>
          <a:endParaRPr lang="en-US"/>
        </a:p>
      </dgm:t>
    </dgm:pt>
    <dgm:pt modelId="{216CF7EA-787B-4D96-9F4F-9E0684705A94}">
      <dgm:prSet phldrT="[Text]" phldr="0"/>
      <dgm:spPr/>
      <dgm:t>
        <a:bodyPr/>
        <a:lstStyle/>
        <a:p>
          <a:pPr algn="l" rtl="0"/>
          <a:r>
            <a:rPr lang="en-US" b="1">
              <a:latin typeface="Times New Roman"/>
              <a:cs typeface="Times New Roman"/>
            </a:rPr>
            <a:t>     EDA &amp; Analytics</a:t>
          </a:r>
        </a:p>
      </dgm:t>
    </dgm:pt>
    <dgm:pt modelId="{0BF384C0-750D-450B-B375-2B14071DFF31}" type="parTrans" cxnId="{A6F6FA9D-39E4-4396-84C6-48D26E653CEF}">
      <dgm:prSet/>
      <dgm:spPr/>
    </dgm:pt>
    <dgm:pt modelId="{29F9A1B8-3739-4BAA-8AB3-7E74AC53E70E}" type="sibTrans" cxnId="{A6F6FA9D-39E4-4396-84C6-48D26E653CEF}">
      <dgm:prSet/>
      <dgm:spPr/>
      <dgm:t>
        <a:bodyPr/>
        <a:lstStyle/>
        <a:p>
          <a:endParaRPr lang="en-US"/>
        </a:p>
      </dgm:t>
    </dgm:pt>
    <dgm:pt modelId="{4E5C9E19-B6ED-47FC-A019-0AB7EDCD7170}">
      <dgm:prSet phldrT="[Text]" phldr="0"/>
      <dgm:spPr/>
      <dgm:t>
        <a:bodyPr/>
        <a:lstStyle/>
        <a:p>
          <a:pPr algn="l" rtl="0"/>
          <a:r>
            <a:rPr lang="en-US" b="1">
              <a:latin typeface="Times New Roman"/>
              <a:cs typeface="Times New Roman"/>
            </a:rPr>
            <a:t>  Tableau Dashboard</a:t>
          </a:r>
        </a:p>
      </dgm:t>
    </dgm:pt>
    <dgm:pt modelId="{F4EF2868-3AEB-4A69-8705-F43C20ED201A}" type="parTrans" cxnId="{305DF0F2-6127-4778-924C-3D333E18F48A}">
      <dgm:prSet/>
      <dgm:spPr/>
    </dgm:pt>
    <dgm:pt modelId="{0AAFC5C8-3230-4AE4-83CF-04DF8B2293B8}" type="sibTrans" cxnId="{305DF0F2-6127-4778-924C-3D333E18F48A}">
      <dgm:prSet/>
      <dgm:spPr/>
      <dgm:t>
        <a:bodyPr/>
        <a:lstStyle/>
        <a:p>
          <a:endParaRPr lang="en-US"/>
        </a:p>
      </dgm:t>
    </dgm:pt>
    <dgm:pt modelId="{87BC8151-8261-4462-B75D-994E54328299}">
      <dgm:prSet phldrT="[Text]" phldr="0"/>
      <dgm:spPr/>
      <dgm:t>
        <a:bodyPr/>
        <a:lstStyle/>
        <a:p>
          <a:pPr algn="l" rtl="0"/>
          <a:r>
            <a:rPr lang="en-US" b="0" i="1" u="sng" dirty="0">
              <a:latin typeface="Times New Roman"/>
              <a:cs typeface="Times New Roman"/>
            </a:rPr>
            <a:t> </a:t>
          </a:r>
          <a:r>
            <a:rPr lang="en-US" b="1" i="1" u="sng" dirty="0">
              <a:latin typeface="Times New Roman"/>
              <a:cs typeface="Times New Roman"/>
            </a:rPr>
            <a:t>Project Architecture </a:t>
          </a:r>
        </a:p>
      </dgm:t>
    </dgm:pt>
    <dgm:pt modelId="{D54172F6-8FE4-4803-9DFB-9B93E809A6FA}" type="parTrans" cxnId="{D17C249E-248F-4F71-B49E-17FBCB195261}">
      <dgm:prSet/>
      <dgm:spPr/>
    </dgm:pt>
    <dgm:pt modelId="{722BBB1F-DF19-4754-A98A-7CC8F77FEF64}" type="sibTrans" cxnId="{D17C249E-248F-4F71-B49E-17FBCB195261}">
      <dgm:prSet/>
      <dgm:spPr/>
      <dgm:t>
        <a:bodyPr/>
        <a:lstStyle/>
        <a:p>
          <a:endParaRPr lang="en-US"/>
        </a:p>
      </dgm:t>
    </dgm:pt>
    <dgm:pt modelId="{9D49E723-5A0D-4049-92B6-0748F66C2A77}" type="pres">
      <dgm:prSet presAssocID="{8B120A74-E3C2-4019-BA0B-10F5FADBF5AE}" presName="linearFlow" presStyleCnt="0">
        <dgm:presLayoutVars>
          <dgm:resizeHandles val="exact"/>
        </dgm:presLayoutVars>
      </dgm:prSet>
      <dgm:spPr/>
    </dgm:pt>
    <dgm:pt modelId="{325925B3-4826-483F-83A3-E090A2BC92D4}" type="pres">
      <dgm:prSet presAssocID="{87BC8151-8261-4462-B75D-994E54328299}" presName="node" presStyleLbl="node1" presStyleIdx="0" presStyleCnt="7">
        <dgm:presLayoutVars>
          <dgm:bulletEnabled val="1"/>
        </dgm:presLayoutVars>
      </dgm:prSet>
      <dgm:spPr/>
    </dgm:pt>
    <dgm:pt modelId="{CCABC8C9-CCAC-4746-AD86-6393BFC3918B}" type="pres">
      <dgm:prSet presAssocID="{722BBB1F-DF19-4754-A98A-7CC8F77FEF64}" presName="sibTrans" presStyleLbl="sibTrans2D1" presStyleIdx="0" presStyleCnt="6"/>
      <dgm:spPr/>
    </dgm:pt>
    <dgm:pt modelId="{30DA6CFB-4675-44FE-A4E4-7FAECDCC4DFE}" type="pres">
      <dgm:prSet presAssocID="{722BBB1F-DF19-4754-A98A-7CC8F77FEF64}" presName="connectorText" presStyleLbl="sibTrans2D1" presStyleIdx="0" presStyleCnt="6"/>
      <dgm:spPr/>
    </dgm:pt>
    <dgm:pt modelId="{D7D02175-192A-46DF-A7C4-2D137E8B3E7F}" type="pres">
      <dgm:prSet presAssocID="{88D4D58A-DF37-40C1-9CAC-36BC97334CE9}" presName="node" presStyleLbl="node1" presStyleIdx="1" presStyleCnt="7">
        <dgm:presLayoutVars>
          <dgm:bulletEnabled val="1"/>
        </dgm:presLayoutVars>
      </dgm:prSet>
      <dgm:spPr/>
    </dgm:pt>
    <dgm:pt modelId="{E20252A5-5A46-4D8A-9E7C-894FD38FD41D}" type="pres">
      <dgm:prSet presAssocID="{59786090-04B2-47E7-A64D-2F2B167F2ACF}" presName="sibTrans" presStyleLbl="sibTrans2D1" presStyleIdx="1" presStyleCnt="6"/>
      <dgm:spPr/>
    </dgm:pt>
    <dgm:pt modelId="{0F8C68DE-3E9B-4C9B-B7B5-D19C38F07F8E}" type="pres">
      <dgm:prSet presAssocID="{59786090-04B2-47E7-A64D-2F2B167F2ACF}" presName="connectorText" presStyleLbl="sibTrans2D1" presStyleIdx="1" presStyleCnt="6"/>
      <dgm:spPr/>
    </dgm:pt>
    <dgm:pt modelId="{D94AA6A3-92F4-4A06-AB75-DEE279F1DFC8}" type="pres">
      <dgm:prSet presAssocID="{464C65FF-F474-4CB1-AD9F-F255EBF509B3}" presName="node" presStyleLbl="node1" presStyleIdx="2" presStyleCnt="7">
        <dgm:presLayoutVars>
          <dgm:bulletEnabled val="1"/>
        </dgm:presLayoutVars>
      </dgm:prSet>
      <dgm:spPr/>
    </dgm:pt>
    <dgm:pt modelId="{80E6659F-8543-48EE-B2E0-407560C53EC6}" type="pres">
      <dgm:prSet presAssocID="{6A931DA1-9FDB-4AB7-9460-2F2F39951CD6}" presName="sibTrans" presStyleLbl="sibTrans2D1" presStyleIdx="2" presStyleCnt="6"/>
      <dgm:spPr/>
    </dgm:pt>
    <dgm:pt modelId="{B48DE319-7059-4415-9C08-CA2B81EA52AA}" type="pres">
      <dgm:prSet presAssocID="{6A931DA1-9FDB-4AB7-9460-2F2F39951CD6}" presName="connectorText" presStyleLbl="sibTrans2D1" presStyleIdx="2" presStyleCnt="6"/>
      <dgm:spPr/>
    </dgm:pt>
    <dgm:pt modelId="{618EB7BC-F20B-49EE-B38E-56F9935625AF}" type="pres">
      <dgm:prSet presAssocID="{8FB437BF-2167-4FE2-9266-135AAF5456E4}" presName="node" presStyleLbl="node1" presStyleIdx="3" presStyleCnt="7">
        <dgm:presLayoutVars>
          <dgm:bulletEnabled val="1"/>
        </dgm:presLayoutVars>
      </dgm:prSet>
      <dgm:spPr/>
    </dgm:pt>
    <dgm:pt modelId="{94F95702-EF1D-46CC-A4E5-5E2EA7DB5757}" type="pres">
      <dgm:prSet presAssocID="{42146A84-F574-4909-96E7-B36155CE4A80}" presName="sibTrans" presStyleLbl="sibTrans2D1" presStyleIdx="3" presStyleCnt="6"/>
      <dgm:spPr/>
    </dgm:pt>
    <dgm:pt modelId="{AE721D3F-454F-4A45-8996-9A347675D736}" type="pres">
      <dgm:prSet presAssocID="{42146A84-F574-4909-96E7-B36155CE4A80}" presName="connectorText" presStyleLbl="sibTrans2D1" presStyleIdx="3" presStyleCnt="6"/>
      <dgm:spPr/>
    </dgm:pt>
    <dgm:pt modelId="{A6877D90-116C-4D07-94E9-76C6666654BD}" type="pres">
      <dgm:prSet presAssocID="{216CF7EA-787B-4D96-9F4F-9E0684705A94}" presName="node" presStyleLbl="node1" presStyleIdx="4" presStyleCnt="7">
        <dgm:presLayoutVars>
          <dgm:bulletEnabled val="1"/>
        </dgm:presLayoutVars>
      </dgm:prSet>
      <dgm:spPr/>
    </dgm:pt>
    <dgm:pt modelId="{FF04A80D-B532-4D60-9E23-52F7D1913C2F}" type="pres">
      <dgm:prSet presAssocID="{29F9A1B8-3739-4BAA-8AB3-7E74AC53E70E}" presName="sibTrans" presStyleLbl="sibTrans2D1" presStyleIdx="4" presStyleCnt="6"/>
      <dgm:spPr/>
    </dgm:pt>
    <dgm:pt modelId="{3A334E07-C890-4E19-B148-5FEC08AB8712}" type="pres">
      <dgm:prSet presAssocID="{29F9A1B8-3739-4BAA-8AB3-7E74AC53E70E}" presName="connectorText" presStyleLbl="sibTrans2D1" presStyleIdx="4" presStyleCnt="6"/>
      <dgm:spPr/>
    </dgm:pt>
    <dgm:pt modelId="{F4F97838-062E-442E-80B8-42E239ACF6B6}" type="pres">
      <dgm:prSet presAssocID="{4E5C9E19-B6ED-47FC-A019-0AB7EDCD7170}" presName="node" presStyleLbl="node1" presStyleIdx="5" presStyleCnt="7">
        <dgm:presLayoutVars>
          <dgm:bulletEnabled val="1"/>
        </dgm:presLayoutVars>
      </dgm:prSet>
      <dgm:spPr/>
    </dgm:pt>
    <dgm:pt modelId="{FDF6B17C-5517-4DE4-BAC0-21BB95290B6D}" type="pres">
      <dgm:prSet presAssocID="{0AAFC5C8-3230-4AE4-83CF-04DF8B2293B8}" presName="sibTrans" presStyleLbl="sibTrans2D1" presStyleIdx="5" presStyleCnt="6"/>
      <dgm:spPr/>
    </dgm:pt>
    <dgm:pt modelId="{478E7430-CCF7-4A65-8DB4-80510FB71CC0}" type="pres">
      <dgm:prSet presAssocID="{0AAFC5C8-3230-4AE4-83CF-04DF8B2293B8}" presName="connectorText" presStyleLbl="sibTrans2D1" presStyleIdx="5" presStyleCnt="6"/>
      <dgm:spPr/>
    </dgm:pt>
    <dgm:pt modelId="{D3F0BB8F-F1F7-45F6-A49A-3D81A648BBCD}" type="pres">
      <dgm:prSet presAssocID="{58186FCF-2BF9-4406-BD43-6B34A3163C2C}" presName="node" presStyleLbl="node1" presStyleIdx="6" presStyleCnt="7">
        <dgm:presLayoutVars>
          <dgm:bulletEnabled val="1"/>
        </dgm:presLayoutVars>
      </dgm:prSet>
      <dgm:spPr/>
    </dgm:pt>
  </dgm:ptLst>
  <dgm:cxnLst>
    <dgm:cxn modelId="{F88D4F0B-17D0-49FB-83A4-766F437A17DE}" type="presOf" srcId="{88D4D58A-DF37-40C1-9CAC-36BC97334CE9}" destId="{D7D02175-192A-46DF-A7C4-2D137E8B3E7F}" srcOrd="0" destOrd="0" presId="urn:microsoft.com/office/officeart/2005/8/layout/process2"/>
    <dgm:cxn modelId="{5D0FA70B-8938-412C-A5C9-C488C2060A39}" type="presOf" srcId="{29F9A1B8-3739-4BAA-8AB3-7E74AC53E70E}" destId="{3A334E07-C890-4E19-B148-5FEC08AB8712}" srcOrd="1" destOrd="0" presId="urn:microsoft.com/office/officeart/2005/8/layout/process2"/>
    <dgm:cxn modelId="{14CE020C-6D33-4A29-943E-3660841691EA}" type="presOf" srcId="{464C65FF-F474-4CB1-AD9F-F255EBF509B3}" destId="{D94AA6A3-92F4-4A06-AB75-DEE279F1DFC8}" srcOrd="0" destOrd="0" presId="urn:microsoft.com/office/officeart/2005/8/layout/process2"/>
    <dgm:cxn modelId="{94F39810-C29D-4130-BD47-D5F2938272A3}" type="presOf" srcId="{8FB437BF-2167-4FE2-9266-135AAF5456E4}" destId="{618EB7BC-F20B-49EE-B38E-56F9935625AF}" srcOrd="0" destOrd="0" presId="urn:microsoft.com/office/officeart/2005/8/layout/process2"/>
    <dgm:cxn modelId="{53C3A411-0443-4364-AD42-C88D207AB65A}" type="presOf" srcId="{6A931DA1-9FDB-4AB7-9460-2F2F39951CD6}" destId="{B48DE319-7059-4415-9C08-CA2B81EA52AA}" srcOrd="1" destOrd="0" presId="urn:microsoft.com/office/officeart/2005/8/layout/process2"/>
    <dgm:cxn modelId="{2344B01D-2891-4FD4-B0BF-7EDD6916BFBE}" type="presOf" srcId="{42146A84-F574-4909-96E7-B36155CE4A80}" destId="{AE721D3F-454F-4A45-8996-9A347675D736}" srcOrd="1" destOrd="0" presId="urn:microsoft.com/office/officeart/2005/8/layout/process2"/>
    <dgm:cxn modelId="{F476455D-C427-4233-BC35-67D1F4A5BDAF}" type="presOf" srcId="{8B120A74-E3C2-4019-BA0B-10F5FADBF5AE}" destId="{9D49E723-5A0D-4049-92B6-0748F66C2A77}" srcOrd="0" destOrd="0" presId="urn:microsoft.com/office/officeart/2005/8/layout/process2"/>
    <dgm:cxn modelId="{FF49D660-150F-45D6-A5AD-9A9D244FE74C}" type="presOf" srcId="{722BBB1F-DF19-4754-A98A-7CC8F77FEF64}" destId="{CCABC8C9-CCAC-4746-AD86-6393BFC3918B}" srcOrd="0" destOrd="0" presId="urn:microsoft.com/office/officeart/2005/8/layout/process2"/>
    <dgm:cxn modelId="{E4DDFE4A-8811-4DF1-B754-7091821121FA}" type="presOf" srcId="{6A931DA1-9FDB-4AB7-9460-2F2F39951CD6}" destId="{80E6659F-8543-48EE-B2E0-407560C53EC6}" srcOrd="0" destOrd="0" presId="urn:microsoft.com/office/officeart/2005/8/layout/process2"/>
    <dgm:cxn modelId="{C8770C6B-B644-4082-9949-80BB0D85C71D}" srcId="{8B120A74-E3C2-4019-BA0B-10F5FADBF5AE}" destId="{464C65FF-F474-4CB1-AD9F-F255EBF509B3}" srcOrd="2" destOrd="0" parTransId="{8C3F0594-59E2-4D46-BA42-472CCC716B08}" sibTransId="{6A931DA1-9FDB-4AB7-9460-2F2F39951CD6}"/>
    <dgm:cxn modelId="{241BF971-DFD6-4D11-AB77-A8227BF82B65}" type="presOf" srcId="{0AAFC5C8-3230-4AE4-83CF-04DF8B2293B8}" destId="{FDF6B17C-5517-4DE4-BAC0-21BB95290B6D}" srcOrd="0" destOrd="0" presId="urn:microsoft.com/office/officeart/2005/8/layout/process2"/>
    <dgm:cxn modelId="{AA769E52-1A0E-498D-BDF1-494574C80168}" type="presOf" srcId="{29F9A1B8-3739-4BAA-8AB3-7E74AC53E70E}" destId="{FF04A80D-B532-4D60-9E23-52F7D1913C2F}" srcOrd="0" destOrd="0" presId="urn:microsoft.com/office/officeart/2005/8/layout/process2"/>
    <dgm:cxn modelId="{B20A7358-838B-4E82-BD8D-7523FDEB6157}" srcId="{8B120A74-E3C2-4019-BA0B-10F5FADBF5AE}" destId="{58186FCF-2BF9-4406-BD43-6B34A3163C2C}" srcOrd="6" destOrd="0" parTransId="{62B89345-D4F7-402B-9F63-918338AB79AB}" sibTransId="{1C4A9FA7-5DF5-49B5-ADA0-AF6CAFA9D807}"/>
    <dgm:cxn modelId="{C7ECE059-7404-4017-98C8-A42D3BFBC70E}" type="presOf" srcId="{58186FCF-2BF9-4406-BD43-6B34A3163C2C}" destId="{D3F0BB8F-F1F7-45F6-A49A-3D81A648BBCD}" srcOrd="0" destOrd="0" presId="urn:microsoft.com/office/officeart/2005/8/layout/process2"/>
    <dgm:cxn modelId="{C228147E-4B2D-4791-8295-A845C2B657DA}" type="presOf" srcId="{4E5C9E19-B6ED-47FC-A019-0AB7EDCD7170}" destId="{F4F97838-062E-442E-80B8-42E239ACF6B6}" srcOrd="0" destOrd="0" presId="urn:microsoft.com/office/officeart/2005/8/layout/process2"/>
    <dgm:cxn modelId="{4AE16D8C-38A7-4704-A44F-F39D47B00BAA}" type="presOf" srcId="{59786090-04B2-47E7-A64D-2F2B167F2ACF}" destId="{0F8C68DE-3E9B-4C9B-B7B5-D19C38F07F8E}" srcOrd="1" destOrd="0" presId="urn:microsoft.com/office/officeart/2005/8/layout/process2"/>
    <dgm:cxn modelId="{C8D02A9C-A20E-4011-95B1-B38D62F0023A}" srcId="{8B120A74-E3C2-4019-BA0B-10F5FADBF5AE}" destId="{8FB437BF-2167-4FE2-9266-135AAF5456E4}" srcOrd="3" destOrd="0" parTransId="{A2D129CA-D5C0-4193-90EB-4002030D8E26}" sibTransId="{42146A84-F574-4909-96E7-B36155CE4A80}"/>
    <dgm:cxn modelId="{A6F6FA9D-39E4-4396-84C6-48D26E653CEF}" srcId="{8B120A74-E3C2-4019-BA0B-10F5FADBF5AE}" destId="{216CF7EA-787B-4D96-9F4F-9E0684705A94}" srcOrd="4" destOrd="0" parTransId="{0BF384C0-750D-450B-B375-2B14071DFF31}" sibTransId="{29F9A1B8-3739-4BAA-8AB3-7E74AC53E70E}"/>
    <dgm:cxn modelId="{D17C249E-248F-4F71-B49E-17FBCB195261}" srcId="{8B120A74-E3C2-4019-BA0B-10F5FADBF5AE}" destId="{87BC8151-8261-4462-B75D-994E54328299}" srcOrd="0" destOrd="0" parTransId="{D54172F6-8FE4-4803-9DFB-9B93E809A6FA}" sibTransId="{722BBB1F-DF19-4754-A98A-7CC8F77FEF64}"/>
    <dgm:cxn modelId="{6610C5BE-0982-41C0-BF53-7A825BE503DC}" type="presOf" srcId="{42146A84-F574-4909-96E7-B36155CE4A80}" destId="{94F95702-EF1D-46CC-A4E5-5E2EA7DB5757}" srcOrd="0" destOrd="0" presId="urn:microsoft.com/office/officeart/2005/8/layout/process2"/>
    <dgm:cxn modelId="{FB3276C5-9A4C-47FB-8ED5-086B286DD2EF}" type="presOf" srcId="{59786090-04B2-47E7-A64D-2F2B167F2ACF}" destId="{E20252A5-5A46-4D8A-9E7C-894FD38FD41D}" srcOrd="0" destOrd="0" presId="urn:microsoft.com/office/officeart/2005/8/layout/process2"/>
    <dgm:cxn modelId="{3A9983C6-A6A3-461C-B601-E058A67D1F92}" srcId="{8B120A74-E3C2-4019-BA0B-10F5FADBF5AE}" destId="{88D4D58A-DF37-40C1-9CAC-36BC97334CE9}" srcOrd="1" destOrd="0" parTransId="{698B05C2-F76F-4494-BD33-2BF5B5347FAC}" sibTransId="{59786090-04B2-47E7-A64D-2F2B167F2ACF}"/>
    <dgm:cxn modelId="{179E45C9-183A-446D-B084-47EF3C27A308}" type="presOf" srcId="{0AAFC5C8-3230-4AE4-83CF-04DF8B2293B8}" destId="{478E7430-CCF7-4A65-8DB4-80510FB71CC0}" srcOrd="1" destOrd="0" presId="urn:microsoft.com/office/officeart/2005/8/layout/process2"/>
    <dgm:cxn modelId="{6A32BED1-50DF-4E9C-AA35-AFAB68BDDE1C}" type="presOf" srcId="{216CF7EA-787B-4D96-9F4F-9E0684705A94}" destId="{A6877D90-116C-4D07-94E9-76C6666654BD}" srcOrd="0" destOrd="0" presId="urn:microsoft.com/office/officeart/2005/8/layout/process2"/>
    <dgm:cxn modelId="{21D032D4-BB20-4050-A2D8-DB005FEA9879}" type="presOf" srcId="{87BC8151-8261-4462-B75D-994E54328299}" destId="{325925B3-4826-483F-83A3-E090A2BC92D4}" srcOrd="0" destOrd="0" presId="urn:microsoft.com/office/officeart/2005/8/layout/process2"/>
    <dgm:cxn modelId="{91E97CD5-49D3-40E9-9A01-5D75497C8B36}" type="presOf" srcId="{722BBB1F-DF19-4754-A98A-7CC8F77FEF64}" destId="{30DA6CFB-4675-44FE-A4E4-7FAECDCC4DFE}" srcOrd="1" destOrd="0" presId="urn:microsoft.com/office/officeart/2005/8/layout/process2"/>
    <dgm:cxn modelId="{305DF0F2-6127-4778-924C-3D333E18F48A}" srcId="{8B120A74-E3C2-4019-BA0B-10F5FADBF5AE}" destId="{4E5C9E19-B6ED-47FC-A019-0AB7EDCD7170}" srcOrd="5" destOrd="0" parTransId="{F4EF2868-3AEB-4A69-8705-F43C20ED201A}" sibTransId="{0AAFC5C8-3230-4AE4-83CF-04DF8B2293B8}"/>
    <dgm:cxn modelId="{70B4A795-80BC-4966-A962-F0134BDD9F20}" type="presParOf" srcId="{9D49E723-5A0D-4049-92B6-0748F66C2A77}" destId="{325925B3-4826-483F-83A3-E090A2BC92D4}" srcOrd="0" destOrd="0" presId="urn:microsoft.com/office/officeart/2005/8/layout/process2"/>
    <dgm:cxn modelId="{AC29E943-EB97-400D-A8FA-FC1458827850}" type="presParOf" srcId="{9D49E723-5A0D-4049-92B6-0748F66C2A77}" destId="{CCABC8C9-CCAC-4746-AD86-6393BFC3918B}" srcOrd="1" destOrd="0" presId="urn:microsoft.com/office/officeart/2005/8/layout/process2"/>
    <dgm:cxn modelId="{10C12040-145C-4D5F-9C30-9A0278EA9BC7}" type="presParOf" srcId="{CCABC8C9-CCAC-4746-AD86-6393BFC3918B}" destId="{30DA6CFB-4675-44FE-A4E4-7FAECDCC4DFE}" srcOrd="0" destOrd="0" presId="urn:microsoft.com/office/officeart/2005/8/layout/process2"/>
    <dgm:cxn modelId="{9F33423E-AFFC-480A-80F3-CD107B569D4E}" type="presParOf" srcId="{9D49E723-5A0D-4049-92B6-0748F66C2A77}" destId="{D7D02175-192A-46DF-A7C4-2D137E8B3E7F}" srcOrd="2" destOrd="0" presId="urn:microsoft.com/office/officeart/2005/8/layout/process2"/>
    <dgm:cxn modelId="{08C85082-C0D0-4781-8C8B-1DF9E6E7A008}" type="presParOf" srcId="{9D49E723-5A0D-4049-92B6-0748F66C2A77}" destId="{E20252A5-5A46-4D8A-9E7C-894FD38FD41D}" srcOrd="3" destOrd="0" presId="urn:microsoft.com/office/officeart/2005/8/layout/process2"/>
    <dgm:cxn modelId="{A4BE19EF-9FCD-457F-9CAF-D15ABF3B4780}" type="presParOf" srcId="{E20252A5-5A46-4D8A-9E7C-894FD38FD41D}" destId="{0F8C68DE-3E9B-4C9B-B7B5-D19C38F07F8E}" srcOrd="0" destOrd="0" presId="urn:microsoft.com/office/officeart/2005/8/layout/process2"/>
    <dgm:cxn modelId="{A2A3D402-DCDA-4ADF-86C3-8BA5BB39B766}" type="presParOf" srcId="{9D49E723-5A0D-4049-92B6-0748F66C2A77}" destId="{D94AA6A3-92F4-4A06-AB75-DEE279F1DFC8}" srcOrd="4" destOrd="0" presId="urn:microsoft.com/office/officeart/2005/8/layout/process2"/>
    <dgm:cxn modelId="{6FA67AB9-76B6-4C15-825D-3419B20EDFBC}" type="presParOf" srcId="{9D49E723-5A0D-4049-92B6-0748F66C2A77}" destId="{80E6659F-8543-48EE-B2E0-407560C53EC6}" srcOrd="5" destOrd="0" presId="urn:microsoft.com/office/officeart/2005/8/layout/process2"/>
    <dgm:cxn modelId="{CAE4F9D0-E2A8-4B77-9BF0-F20166C4FC24}" type="presParOf" srcId="{80E6659F-8543-48EE-B2E0-407560C53EC6}" destId="{B48DE319-7059-4415-9C08-CA2B81EA52AA}" srcOrd="0" destOrd="0" presId="urn:microsoft.com/office/officeart/2005/8/layout/process2"/>
    <dgm:cxn modelId="{243F7F97-117D-41AD-A621-2BCE08F017AA}" type="presParOf" srcId="{9D49E723-5A0D-4049-92B6-0748F66C2A77}" destId="{618EB7BC-F20B-49EE-B38E-56F9935625AF}" srcOrd="6" destOrd="0" presId="urn:microsoft.com/office/officeart/2005/8/layout/process2"/>
    <dgm:cxn modelId="{5D52AC6D-A59C-4B39-8297-940374B1B1F5}" type="presParOf" srcId="{9D49E723-5A0D-4049-92B6-0748F66C2A77}" destId="{94F95702-EF1D-46CC-A4E5-5E2EA7DB5757}" srcOrd="7" destOrd="0" presId="urn:microsoft.com/office/officeart/2005/8/layout/process2"/>
    <dgm:cxn modelId="{661E456B-8B92-47E5-96C7-F0EB89598B28}" type="presParOf" srcId="{94F95702-EF1D-46CC-A4E5-5E2EA7DB5757}" destId="{AE721D3F-454F-4A45-8996-9A347675D736}" srcOrd="0" destOrd="0" presId="urn:microsoft.com/office/officeart/2005/8/layout/process2"/>
    <dgm:cxn modelId="{86569CC8-1879-4C6A-850D-75E66B900736}" type="presParOf" srcId="{9D49E723-5A0D-4049-92B6-0748F66C2A77}" destId="{A6877D90-116C-4D07-94E9-76C6666654BD}" srcOrd="8" destOrd="0" presId="urn:microsoft.com/office/officeart/2005/8/layout/process2"/>
    <dgm:cxn modelId="{A86DF184-5FA0-4DBB-9F82-65B0D7555E6A}" type="presParOf" srcId="{9D49E723-5A0D-4049-92B6-0748F66C2A77}" destId="{FF04A80D-B532-4D60-9E23-52F7D1913C2F}" srcOrd="9" destOrd="0" presId="urn:microsoft.com/office/officeart/2005/8/layout/process2"/>
    <dgm:cxn modelId="{E33F97E5-901C-4CB3-BD9C-8180528B99C0}" type="presParOf" srcId="{FF04A80D-B532-4D60-9E23-52F7D1913C2F}" destId="{3A334E07-C890-4E19-B148-5FEC08AB8712}" srcOrd="0" destOrd="0" presId="urn:microsoft.com/office/officeart/2005/8/layout/process2"/>
    <dgm:cxn modelId="{CB5A3CFA-F7A5-47AD-81C5-1C515F6DEFDD}" type="presParOf" srcId="{9D49E723-5A0D-4049-92B6-0748F66C2A77}" destId="{F4F97838-062E-442E-80B8-42E239ACF6B6}" srcOrd="10" destOrd="0" presId="urn:microsoft.com/office/officeart/2005/8/layout/process2"/>
    <dgm:cxn modelId="{41564369-F897-4AC2-9BC8-F96C9F466A38}" type="presParOf" srcId="{9D49E723-5A0D-4049-92B6-0748F66C2A77}" destId="{FDF6B17C-5517-4DE4-BAC0-21BB95290B6D}" srcOrd="11" destOrd="0" presId="urn:microsoft.com/office/officeart/2005/8/layout/process2"/>
    <dgm:cxn modelId="{982BC765-67C4-4C51-B923-A6C0ACAF833C}" type="presParOf" srcId="{FDF6B17C-5517-4DE4-BAC0-21BB95290B6D}" destId="{478E7430-CCF7-4A65-8DB4-80510FB71CC0}" srcOrd="0" destOrd="0" presId="urn:microsoft.com/office/officeart/2005/8/layout/process2"/>
    <dgm:cxn modelId="{E783D0AF-E4A2-404A-8C42-A5899262C103}" type="presParOf" srcId="{9D49E723-5A0D-4049-92B6-0748F66C2A77}" destId="{D3F0BB8F-F1F7-45F6-A49A-3D81A648BBCD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ACE850-EB3C-4600-BFC2-40510DC409F6}">
      <dsp:nvSpPr>
        <dsp:cNvPr id="0" name=""/>
        <dsp:cNvSpPr/>
      </dsp:nvSpPr>
      <dsp:spPr>
        <a:xfrm>
          <a:off x="1607126" y="1451"/>
          <a:ext cx="1357747" cy="42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1" u="sng" kern="1200" dirty="0">
              <a:latin typeface="Times New Roman"/>
              <a:cs typeface="Times New Roman"/>
            </a:rPr>
            <a:t>Data source</a:t>
          </a:r>
        </a:p>
      </dsp:txBody>
      <dsp:txXfrm>
        <a:off x="1619719" y="14044"/>
        <a:ext cx="1332561" cy="404778"/>
      </dsp:txXfrm>
    </dsp:sp>
    <dsp:sp modelId="{00EE9A82-A42E-46A0-B491-726DC5E8BD5A}">
      <dsp:nvSpPr>
        <dsp:cNvPr id="0" name=""/>
        <dsp:cNvSpPr/>
      </dsp:nvSpPr>
      <dsp:spPr>
        <a:xfrm rot="5400000">
          <a:off x="2205381" y="442164"/>
          <a:ext cx="161236" cy="1934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227955" y="458288"/>
        <a:ext cx="116090" cy="112865"/>
      </dsp:txXfrm>
    </dsp:sp>
    <dsp:sp modelId="{B2F97CA7-DCE0-4DE5-9E74-22C0777AACA1}">
      <dsp:nvSpPr>
        <dsp:cNvPr id="0" name=""/>
        <dsp:cNvSpPr/>
      </dsp:nvSpPr>
      <dsp:spPr>
        <a:xfrm>
          <a:off x="1607126" y="646397"/>
          <a:ext cx="1357747" cy="42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/>
              <a:cs typeface="Times New Roman"/>
            </a:rPr>
            <a:t>   </a:t>
          </a:r>
          <a:r>
            <a:rPr lang="en-US" sz="1800" b="1" kern="1200">
              <a:latin typeface="Times New Roman"/>
              <a:cs typeface="Times New Roman"/>
            </a:rPr>
            <a:t>Raw Data</a:t>
          </a:r>
          <a:endParaRPr lang="en-US" sz="1800" b="1" kern="1200" dirty="0">
            <a:latin typeface="Times New Roman"/>
            <a:cs typeface="Times New Roman"/>
          </a:endParaRPr>
        </a:p>
      </dsp:txBody>
      <dsp:txXfrm>
        <a:off x="1619719" y="658990"/>
        <a:ext cx="1332561" cy="404778"/>
      </dsp:txXfrm>
    </dsp:sp>
    <dsp:sp modelId="{11848505-DF9E-459F-A8AB-EDC5F050EEE6}">
      <dsp:nvSpPr>
        <dsp:cNvPr id="0" name=""/>
        <dsp:cNvSpPr/>
      </dsp:nvSpPr>
      <dsp:spPr>
        <a:xfrm rot="5400000">
          <a:off x="2205381" y="1087111"/>
          <a:ext cx="161236" cy="1934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227955" y="1103235"/>
        <a:ext cx="116090" cy="112865"/>
      </dsp:txXfrm>
    </dsp:sp>
    <dsp:sp modelId="{95A56642-B265-4FD4-B8E8-9DDC6D02DBB0}">
      <dsp:nvSpPr>
        <dsp:cNvPr id="0" name=""/>
        <dsp:cNvSpPr/>
      </dsp:nvSpPr>
      <dsp:spPr>
        <a:xfrm>
          <a:off x="1607126" y="1291344"/>
          <a:ext cx="1357747" cy="42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/>
              <a:cs typeface="Times New Roman"/>
            </a:rPr>
            <a:t>Cleaning</a:t>
          </a:r>
          <a:endParaRPr lang="en-US" sz="1800" b="1" kern="1200" dirty="0">
            <a:latin typeface="Times New Roman"/>
            <a:cs typeface="Times New Roman"/>
          </a:endParaRPr>
        </a:p>
      </dsp:txBody>
      <dsp:txXfrm>
        <a:off x="1619719" y="1303937"/>
        <a:ext cx="1332561" cy="404778"/>
      </dsp:txXfrm>
    </dsp:sp>
    <dsp:sp modelId="{1FAA43EF-5573-498C-9AE0-2A1377787EB7}">
      <dsp:nvSpPr>
        <dsp:cNvPr id="0" name=""/>
        <dsp:cNvSpPr/>
      </dsp:nvSpPr>
      <dsp:spPr>
        <a:xfrm rot="5400000">
          <a:off x="2205381" y="1732057"/>
          <a:ext cx="161236" cy="1934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227955" y="1748181"/>
        <a:ext cx="116090" cy="112865"/>
      </dsp:txXfrm>
    </dsp:sp>
    <dsp:sp modelId="{B8206E34-B238-407B-9F9C-FE0D107A2567}">
      <dsp:nvSpPr>
        <dsp:cNvPr id="0" name=""/>
        <dsp:cNvSpPr/>
      </dsp:nvSpPr>
      <dsp:spPr>
        <a:xfrm>
          <a:off x="1607126" y="1936291"/>
          <a:ext cx="1357747" cy="42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/>
              <a:cs typeface="Times New Roman"/>
            </a:rPr>
            <a:t>   Analytics</a:t>
          </a:r>
          <a:endParaRPr lang="en-US" sz="1800" b="1" kern="1200" dirty="0">
            <a:latin typeface="Times New Roman"/>
            <a:cs typeface="Times New Roman"/>
          </a:endParaRPr>
        </a:p>
      </dsp:txBody>
      <dsp:txXfrm>
        <a:off x="1619719" y="1948884"/>
        <a:ext cx="1332561" cy="404778"/>
      </dsp:txXfrm>
    </dsp:sp>
    <dsp:sp modelId="{D576AAC0-8B69-48B4-BD2F-6801AC69123A}">
      <dsp:nvSpPr>
        <dsp:cNvPr id="0" name=""/>
        <dsp:cNvSpPr/>
      </dsp:nvSpPr>
      <dsp:spPr>
        <a:xfrm rot="5400000">
          <a:off x="2205381" y="2377004"/>
          <a:ext cx="161236" cy="1934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227955" y="2393128"/>
        <a:ext cx="116090" cy="112865"/>
      </dsp:txXfrm>
    </dsp:sp>
    <dsp:sp modelId="{18E1044B-74F5-4EC6-AA94-E0401F1FA7EB}">
      <dsp:nvSpPr>
        <dsp:cNvPr id="0" name=""/>
        <dsp:cNvSpPr/>
      </dsp:nvSpPr>
      <dsp:spPr>
        <a:xfrm>
          <a:off x="1607126" y="2581237"/>
          <a:ext cx="1357747" cy="42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/>
              <a:cs typeface="Times New Roman"/>
            </a:rPr>
            <a:t>  Dashboard</a:t>
          </a:r>
          <a:endParaRPr lang="en-US" sz="1800" b="1" kern="1200" dirty="0">
            <a:latin typeface="Times New Roman"/>
            <a:cs typeface="Times New Roman"/>
          </a:endParaRPr>
        </a:p>
      </dsp:txBody>
      <dsp:txXfrm>
        <a:off x="1619719" y="2593830"/>
        <a:ext cx="1332561" cy="404778"/>
      </dsp:txXfrm>
    </dsp:sp>
    <dsp:sp modelId="{3810B15C-E810-47FE-8ECE-903749236AF2}">
      <dsp:nvSpPr>
        <dsp:cNvPr id="0" name=""/>
        <dsp:cNvSpPr/>
      </dsp:nvSpPr>
      <dsp:spPr>
        <a:xfrm rot="5400000">
          <a:off x="2205381" y="3021951"/>
          <a:ext cx="161236" cy="1934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227955" y="3038075"/>
        <a:ext cx="116090" cy="112865"/>
      </dsp:txXfrm>
    </dsp:sp>
    <dsp:sp modelId="{CBBC74B7-6C26-409F-83B4-D0DF43084C59}">
      <dsp:nvSpPr>
        <dsp:cNvPr id="0" name=""/>
        <dsp:cNvSpPr/>
      </dsp:nvSpPr>
      <dsp:spPr>
        <a:xfrm>
          <a:off x="1607126" y="3226184"/>
          <a:ext cx="1357747" cy="4299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imes New Roman"/>
              <a:cs typeface="Times New Roman"/>
            </a:rPr>
            <a:t>Insights</a:t>
          </a:r>
        </a:p>
      </dsp:txBody>
      <dsp:txXfrm>
        <a:off x="1619719" y="3238777"/>
        <a:ext cx="1332561" cy="4047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5925B3-4826-483F-83A3-E090A2BC92D4}">
      <dsp:nvSpPr>
        <dsp:cNvPr id="0" name=""/>
        <dsp:cNvSpPr/>
      </dsp:nvSpPr>
      <dsp:spPr>
        <a:xfrm>
          <a:off x="1605478" y="446"/>
          <a:ext cx="1361043" cy="365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1" u="sng" kern="1200" dirty="0">
              <a:latin typeface="Times New Roman"/>
              <a:cs typeface="Times New Roman"/>
            </a:rPr>
            <a:t> </a:t>
          </a:r>
          <a:r>
            <a:rPr lang="en-US" sz="1100" b="1" i="1" u="sng" kern="1200" dirty="0">
              <a:latin typeface="Times New Roman"/>
              <a:cs typeface="Times New Roman"/>
            </a:rPr>
            <a:t>Project Architecture </a:t>
          </a:r>
        </a:p>
      </dsp:txBody>
      <dsp:txXfrm>
        <a:off x="1616188" y="11156"/>
        <a:ext cx="1339623" cy="344250"/>
      </dsp:txXfrm>
    </dsp:sp>
    <dsp:sp modelId="{CCABC8C9-CCAC-4746-AD86-6393BFC3918B}">
      <dsp:nvSpPr>
        <dsp:cNvPr id="0" name=""/>
        <dsp:cNvSpPr/>
      </dsp:nvSpPr>
      <dsp:spPr>
        <a:xfrm rot="5400000">
          <a:off x="2217436" y="375258"/>
          <a:ext cx="137126" cy="1645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236634" y="388970"/>
        <a:ext cx="98731" cy="95988"/>
      </dsp:txXfrm>
    </dsp:sp>
    <dsp:sp modelId="{D7D02175-192A-46DF-A7C4-2D137E8B3E7F}">
      <dsp:nvSpPr>
        <dsp:cNvPr id="0" name=""/>
        <dsp:cNvSpPr/>
      </dsp:nvSpPr>
      <dsp:spPr>
        <a:xfrm>
          <a:off x="1605478" y="548952"/>
          <a:ext cx="1361043" cy="365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Times New Roman"/>
              <a:cs typeface="Times New Roman"/>
            </a:rPr>
            <a:t>         CSV Files</a:t>
          </a:r>
        </a:p>
      </dsp:txBody>
      <dsp:txXfrm>
        <a:off x="1616188" y="559662"/>
        <a:ext cx="1339623" cy="344250"/>
      </dsp:txXfrm>
    </dsp:sp>
    <dsp:sp modelId="{E20252A5-5A46-4D8A-9E7C-894FD38FD41D}">
      <dsp:nvSpPr>
        <dsp:cNvPr id="0" name=""/>
        <dsp:cNvSpPr/>
      </dsp:nvSpPr>
      <dsp:spPr>
        <a:xfrm rot="5400000">
          <a:off x="2217436" y="923765"/>
          <a:ext cx="137126" cy="1645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236634" y="937477"/>
        <a:ext cx="98731" cy="95988"/>
      </dsp:txXfrm>
    </dsp:sp>
    <dsp:sp modelId="{D94AA6A3-92F4-4A06-AB75-DEE279F1DFC8}">
      <dsp:nvSpPr>
        <dsp:cNvPr id="0" name=""/>
        <dsp:cNvSpPr/>
      </dsp:nvSpPr>
      <dsp:spPr>
        <a:xfrm>
          <a:off x="1605478" y="1097458"/>
          <a:ext cx="1361043" cy="365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Times New Roman"/>
              <a:cs typeface="Times New Roman"/>
            </a:rPr>
            <a:t>        Python ETL</a:t>
          </a:r>
        </a:p>
      </dsp:txBody>
      <dsp:txXfrm>
        <a:off x="1616188" y="1108168"/>
        <a:ext cx="1339623" cy="344250"/>
      </dsp:txXfrm>
    </dsp:sp>
    <dsp:sp modelId="{80E6659F-8543-48EE-B2E0-407560C53EC6}">
      <dsp:nvSpPr>
        <dsp:cNvPr id="0" name=""/>
        <dsp:cNvSpPr/>
      </dsp:nvSpPr>
      <dsp:spPr>
        <a:xfrm rot="5400000">
          <a:off x="2217436" y="1472271"/>
          <a:ext cx="137126" cy="1645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236634" y="1485983"/>
        <a:ext cx="98731" cy="95988"/>
      </dsp:txXfrm>
    </dsp:sp>
    <dsp:sp modelId="{618EB7BC-F20B-49EE-B38E-56F9935625AF}">
      <dsp:nvSpPr>
        <dsp:cNvPr id="0" name=""/>
        <dsp:cNvSpPr/>
      </dsp:nvSpPr>
      <dsp:spPr>
        <a:xfrm>
          <a:off x="1605478" y="1645964"/>
          <a:ext cx="1361043" cy="365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Times New Roman"/>
              <a:cs typeface="Times New Roman"/>
            </a:rPr>
            <a:t>      Clean Datasets</a:t>
          </a:r>
        </a:p>
      </dsp:txBody>
      <dsp:txXfrm>
        <a:off x="1616188" y="1656674"/>
        <a:ext cx="1339623" cy="344250"/>
      </dsp:txXfrm>
    </dsp:sp>
    <dsp:sp modelId="{94F95702-EF1D-46CC-A4E5-5E2EA7DB5757}">
      <dsp:nvSpPr>
        <dsp:cNvPr id="0" name=""/>
        <dsp:cNvSpPr/>
      </dsp:nvSpPr>
      <dsp:spPr>
        <a:xfrm rot="5400000">
          <a:off x="2217436" y="2020777"/>
          <a:ext cx="137126" cy="1645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236634" y="2034489"/>
        <a:ext cx="98731" cy="95988"/>
      </dsp:txXfrm>
    </dsp:sp>
    <dsp:sp modelId="{A6877D90-116C-4D07-94E9-76C6666654BD}">
      <dsp:nvSpPr>
        <dsp:cNvPr id="0" name=""/>
        <dsp:cNvSpPr/>
      </dsp:nvSpPr>
      <dsp:spPr>
        <a:xfrm>
          <a:off x="1605478" y="2194470"/>
          <a:ext cx="1361043" cy="365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Times New Roman"/>
              <a:cs typeface="Times New Roman"/>
            </a:rPr>
            <a:t>     EDA &amp; Analytics</a:t>
          </a:r>
        </a:p>
      </dsp:txBody>
      <dsp:txXfrm>
        <a:off x="1616188" y="2205180"/>
        <a:ext cx="1339623" cy="344250"/>
      </dsp:txXfrm>
    </dsp:sp>
    <dsp:sp modelId="{FF04A80D-B532-4D60-9E23-52F7D1913C2F}">
      <dsp:nvSpPr>
        <dsp:cNvPr id="0" name=""/>
        <dsp:cNvSpPr/>
      </dsp:nvSpPr>
      <dsp:spPr>
        <a:xfrm rot="5400000">
          <a:off x="2217436" y="2569283"/>
          <a:ext cx="137126" cy="1645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236634" y="2582995"/>
        <a:ext cx="98731" cy="95988"/>
      </dsp:txXfrm>
    </dsp:sp>
    <dsp:sp modelId="{F4F97838-062E-442E-80B8-42E239ACF6B6}">
      <dsp:nvSpPr>
        <dsp:cNvPr id="0" name=""/>
        <dsp:cNvSpPr/>
      </dsp:nvSpPr>
      <dsp:spPr>
        <a:xfrm>
          <a:off x="1605478" y="2742976"/>
          <a:ext cx="1361043" cy="365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Times New Roman"/>
              <a:cs typeface="Times New Roman"/>
            </a:rPr>
            <a:t>  Tableau Dashboard</a:t>
          </a:r>
        </a:p>
      </dsp:txBody>
      <dsp:txXfrm>
        <a:off x="1616188" y="2753686"/>
        <a:ext cx="1339623" cy="344250"/>
      </dsp:txXfrm>
    </dsp:sp>
    <dsp:sp modelId="{FDF6B17C-5517-4DE4-BAC0-21BB95290B6D}">
      <dsp:nvSpPr>
        <dsp:cNvPr id="0" name=""/>
        <dsp:cNvSpPr/>
      </dsp:nvSpPr>
      <dsp:spPr>
        <a:xfrm rot="5400000">
          <a:off x="2217436" y="3117789"/>
          <a:ext cx="137126" cy="1645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236634" y="3131501"/>
        <a:ext cx="98731" cy="95988"/>
      </dsp:txXfrm>
    </dsp:sp>
    <dsp:sp modelId="{D3F0BB8F-F1F7-45F6-A49A-3D81A648BBCD}">
      <dsp:nvSpPr>
        <dsp:cNvPr id="0" name=""/>
        <dsp:cNvSpPr/>
      </dsp:nvSpPr>
      <dsp:spPr>
        <a:xfrm>
          <a:off x="1605478" y="3291482"/>
          <a:ext cx="1361043" cy="3656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Times New Roman"/>
              <a:cs typeface="Times New Roman"/>
            </a:rPr>
            <a:t>   Business Insights</a:t>
          </a:r>
        </a:p>
      </dsp:txBody>
      <dsp:txXfrm>
        <a:off x="1616188" y="3302192"/>
        <a:ext cx="1339623" cy="344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03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5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99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8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630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30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17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40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592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271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84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BLUESTOCK MUTUAL FUND ANALYTICS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b="1">
                <a:latin typeface="Times New Roman"/>
                <a:ea typeface="+mj-lt"/>
                <a:cs typeface="Times New Roman"/>
              </a:rPr>
              <a:t>Capstone Project</a:t>
            </a:r>
            <a:endParaRPr lang="en-US" b="1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6436"/>
            <a:ext cx="9144000" cy="106689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latin typeface="Times New Roman"/>
                <a:cs typeface="Times New Roman"/>
              </a:rPr>
              <a:t>Tools Used:</a:t>
            </a:r>
            <a:endParaRPr lang="en-US" sz="32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latin typeface="Times New Roman"/>
                <a:cs typeface="Times New Roman"/>
              </a:rPr>
              <a:t>Python | Pandas | Jupyter | Tableau | GitHub</a:t>
            </a:r>
            <a:endParaRPr lang="en-US" sz="32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0031E-7D12-138C-F060-4F04A364F50C}"/>
              </a:ext>
            </a:extLst>
          </p:cNvPr>
          <p:cNvSpPr txBox="1"/>
          <p:nvPr/>
        </p:nvSpPr>
        <p:spPr>
          <a:xfrm>
            <a:off x="7467226" y="5094875"/>
            <a:ext cx="4169931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cap="all">
                <a:solidFill>
                  <a:srgbClr val="35403A"/>
                </a:solidFill>
                <a:latin typeface="Times New Roman"/>
                <a:cs typeface="Times New Roman"/>
              </a:rPr>
              <a:t>Prepared By:</a:t>
            </a:r>
            <a:endParaRPr lang="en-US" sz="2000">
              <a:latin typeface="Times New Roman"/>
              <a:cs typeface="Times New Roman"/>
            </a:endParaRPr>
          </a:p>
          <a:p>
            <a:pPr algn="ctr">
              <a:spcBef>
                <a:spcPct val="0"/>
              </a:spcBef>
            </a:pPr>
            <a:r>
              <a:rPr lang="en-US" sz="2000" b="1" cap="all" dirty="0" err="1">
                <a:solidFill>
                  <a:srgbClr val="35403A"/>
                </a:solidFill>
                <a:latin typeface="Times New Roman"/>
                <a:cs typeface="Times New Roman"/>
              </a:rPr>
              <a:t>Savni</a:t>
            </a:r>
            <a:r>
              <a:rPr lang="en-US" sz="2000" b="1" cap="all" dirty="0">
                <a:solidFill>
                  <a:srgbClr val="35403A"/>
                </a:solidFill>
                <a:latin typeface="Times New Roman"/>
                <a:cs typeface="Times New Roman"/>
              </a:rPr>
              <a:t> Nukala </a:t>
            </a:r>
          </a:p>
          <a:p>
            <a:pPr algn="ctr"/>
            <a:r>
              <a:rPr lang="en-US" sz="1600" cap="all">
                <a:solidFill>
                  <a:srgbClr val="35403A"/>
                </a:solidFill>
                <a:latin typeface="Times New Roman"/>
                <a:cs typeface="Times New Roman"/>
              </a:rPr>
              <a:t>Data Analyst Intern</a:t>
            </a:r>
            <a:endParaRPr lang="en-US"/>
          </a:p>
          <a:p>
            <a:pPr algn="ctr"/>
            <a:r>
              <a:rPr lang="en-US" sz="1600" cap="all">
                <a:solidFill>
                  <a:srgbClr val="35403A"/>
                </a:solidFill>
                <a:latin typeface="Times New Roman"/>
                <a:cs typeface="Times New Roman"/>
              </a:rPr>
              <a:t>Fintech Division – Analytical and </a:t>
            </a:r>
            <a:r>
              <a:rPr lang="en-US"/>
              <a:t>Insights Team</a:t>
            </a:r>
          </a:p>
          <a:p>
            <a:pPr algn="ctr">
              <a:spcBef>
                <a:spcPct val="0"/>
              </a:spcBef>
            </a:pPr>
            <a:endParaRPr lang="en-US" sz="2000" cap="all" dirty="0">
              <a:solidFill>
                <a:srgbClr val="35403A"/>
              </a:solidFill>
              <a:latin typeface="Walbaum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90CAC-2B05-30C7-FB2E-A035E90B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617933"/>
            <a:ext cx="10449784" cy="711747"/>
          </a:xfrm>
        </p:spPr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Problem Statement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054CE-B4B8-58F0-4B63-0DE285793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Mutual fund datasets contain large volumes of NAV, transaction, and performance data. Investors and analysts require an integrated platform to evaluate fund performance, investor behavior, and market trends using data-driven insights.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Objective:</a:t>
            </a:r>
            <a:endParaRPr lang="en-US" sz="2000" b="1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>
                <a:latin typeface="Times New Roman"/>
                <a:ea typeface="+mn-lt"/>
                <a:cs typeface="Times New Roman"/>
              </a:rPr>
              <a:t>Build an end-to-end analytics solution for mutual fund analysis, risk evaluation, investor analytics, and dashboard reporting.</a:t>
            </a: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74CE-BCF0-240D-8AF0-9D3E6A82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D4AAA-A94A-4B92-BF4A-AB96772A9F45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0E3A-2A15-2C3B-2EC7-1ED3306F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22B34-E01F-D9FC-B476-54B74D67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17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7C02-DFEE-F525-B590-FAA35A10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825751"/>
            <a:ext cx="10449784" cy="66226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a typeface="+mj-lt"/>
                <a:cs typeface="+mj-lt"/>
              </a:rPr>
              <a:t>Data Sources and Project </a:t>
            </a:r>
            <a:r>
              <a:rPr lang="en-US">
                <a:ea typeface="+mj-lt"/>
                <a:cs typeface="+mj-lt"/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939AD-E872-5814-3995-A71838908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5824" y="2476288"/>
            <a:ext cx="3831851" cy="2092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latin typeface="Times New Roman"/>
                <a:ea typeface="+mn-lt"/>
                <a:cs typeface="Times New Roman"/>
              </a:rPr>
              <a:t>clean_nav.csv 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clean_transactions.csv 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clean_performance.csv</a:t>
            </a:r>
            <a:endParaRPr lang="en-US" sz="200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45C85-453D-9898-D8C0-758CCD749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54FCF-1F5D-4A52-8D0F-A6A25D52BA0E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75FD1-1B64-D9ED-DFAC-FA8595E5F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06E76-6213-FB9D-59C0-9C06B197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7CA8443-9352-90F9-0902-83D9F09EAA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3686199"/>
              </p:ext>
            </p:extLst>
          </p:nvPr>
        </p:nvGraphicFramePr>
        <p:xfrm>
          <a:off x="212202" y="1908858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52" name="Diagram 551">
            <a:extLst>
              <a:ext uri="{FF2B5EF4-FFF2-40B4-BE49-F238E27FC236}">
                <a16:creationId xmlns:a16="http://schemas.microsoft.com/office/drawing/2014/main" id="{19739EDB-DF6C-1515-F51A-812EDB60A9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8701020"/>
              </p:ext>
            </p:extLst>
          </p:nvPr>
        </p:nvGraphicFramePr>
        <p:xfrm>
          <a:off x="6751898" y="1908858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5261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B58B-F740-3EF1-695D-C3E4B8B85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430" y="711839"/>
            <a:ext cx="10449784" cy="716131"/>
          </a:xfrm>
        </p:spPr>
        <p:txBody>
          <a:bodyPr/>
          <a:lstStyle/>
          <a:p>
            <a:pPr algn="ctr"/>
            <a:r>
              <a:rPr lang="en-US" b="1">
                <a:latin typeface="Times New Roman"/>
                <a:ea typeface="+mj-lt"/>
                <a:cs typeface="Times New Roman"/>
              </a:rPr>
              <a:t>EDA Highlights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ED02A-1712-001C-0813-983494FCC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718865"/>
            <a:ext cx="10442448" cy="39038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latin typeface="Times New Roman"/>
                <a:ea typeface="+mn-lt"/>
                <a:cs typeface="Times New Roman"/>
              </a:rPr>
              <a:t>Small Cap funds showed higher returns.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SIP transactions dominated investor activity.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Direct plans had lower expense ratios. </a:t>
            </a:r>
            <a:endParaRPr lang="en-US" sz="18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Key Findings</a:t>
            </a: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</a:pPr>
            <a:r>
              <a:rPr lang="en-US" sz="1800">
                <a:latin typeface="Times New Roman"/>
                <a:ea typeface="+mn-lt"/>
                <a:cs typeface="Times New Roman"/>
              </a:rPr>
              <a:t>Small Cap funds delivered the highest returns but with greater volatility. </a:t>
            </a: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SIP transactions accounted for the majority of investor activity. </a:t>
            </a:r>
          </a:p>
          <a:p>
            <a:pPr>
              <a:buFont typeface="Arial"/>
            </a:pPr>
            <a:r>
              <a:rPr lang="en-US" sz="1800" dirty="0">
                <a:latin typeface="Times New Roman"/>
                <a:ea typeface="+mn-lt"/>
                <a:cs typeface="Times New Roman"/>
              </a:rPr>
              <a:t>Direct plans generally had lower expense ratios than regular plans. </a:t>
            </a:r>
          </a:p>
          <a:p>
            <a:pPr>
              <a:buFont typeface="Arial"/>
            </a:pPr>
            <a:r>
              <a:rPr lang="en-US" sz="1800">
                <a:latin typeface="Times New Roman"/>
                <a:ea typeface="+mn-lt"/>
                <a:cs typeface="Times New Roman"/>
              </a:rPr>
              <a:t>Mutual fund participation increased steadily across the analysis period. </a:t>
            </a:r>
            <a:endParaRPr lang="en-US" sz="1800" dirty="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</a:pPr>
            <a:r>
              <a:rPr lang="en-US" sz="1800">
                <a:latin typeface="Times New Roman"/>
                <a:ea typeface="+mn-lt"/>
                <a:cs typeface="Times New Roman"/>
              </a:rPr>
              <a:t>AUM was concentrated among a few leading fund houses.</a:t>
            </a:r>
          </a:p>
          <a:p>
            <a:pPr marL="0" indent="0">
              <a:buNone/>
            </a:pPr>
            <a:endParaRPr lang="en-US" sz="20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9F7F0-E9A6-A8C9-D24E-B1585ABB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6ED-CD6D-434E-929B-3FE7DC1F89CE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343EE-5164-658B-EB68-DC775D34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C5648-118C-87D1-C0EA-ACBF5F0A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97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64F89-DC58-22D8-DEC8-9A20AB9C1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136" y="1494945"/>
            <a:ext cx="10501824" cy="3864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>
                <a:latin typeface="Times New Roman"/>
                <a:ea typeface="+mn-lt"/>
                <a:cs typeface="Times New Roman"/>
              </a:rPr>
              <a:t>Observations</a:t>
            </a:r>
            <a:endParaRPr lang="en-US" sz="2800">
              <a:latin typeface="Times New Roman"/>
              <a:cs typeface="Times New Roman"/>
            </a:endParaRPr>
          </a:p>
          <a:p>
            <a:r>
              <a:rPr lang="en-US" sz="2800" i="1">
                <a:latin typeface="Times New Roman"/>
                <a:ea typeface="+mn-lt"/>
                <a:cs typeface="Times New Roman"/>
              </a:rPr>
              <a:t>Investment activity showed a positive long-term trend. </a:t>
            </a:r>
            <a:endParaRPr lang="en-US" sz="2800" i="1">
              <a:latin typeface="Times New Roman"/>
              <a:cs typeface="Times New Roman"/>
            </a:endParaRPr>
          </a:p>
          <a:p>
            <a:r>
              <a:rPr lang="en-US" sz="2800" i="1">
                <a:latin typeface="Times New Roman"/>
                <a:ea typeface="+mn-lt"/>
                <a:cs typeface="Times New Roman"/>
              </a:rPr>
              <a:t>Fund performance varied significantly across categories. </a:t>
            </a:r>
            <a:endParaRPr lang="en-US" sz="2800" i="1">
              <a:latin typeface="Times New Roman"/>
              <a:cs typeface="Times New Roman"/>
            </a:endParaRPr>
          </a:p>
          <a:p>
            <a:r>
              <a:rPr lang="en-US" sz="2800" i="1">
                <a:latin typeface="Times New Roman"/>
                <a:ea typeface="+mn-lt"/>
                <a:cs typeface="Times New Roman"/>
              </a:rPr>
              <a:t>Retail investor participation remained strong through SIP investments. </a:t>
            </a:r>
            <a:endParaRPr lang="en-US" sz="2800" i="1">
              <a:latin typeface="Times New Roman"/>
              <a:cs typeface="Times New Roman"/>
            </a:endParaRPr>
          </a:p>
          <a:p>
            <a:r>
              <a:rPr lang="en-US" sz="2800" i="1">
                <a:latin typeface="Times New Roman"/>
                <a:ea typeface="+mn-lt"/>
                <a:cs typeface="Times New Roman"/>
              </a:rPr>
              <a:t>Market growth was reflected in increasing assets under management.</a:t>
            </a:r>
            <a:endParaRPr lang="en-US" i="1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DB3BA-7CE6-C536-310C-6AA7A4BEC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0F9DF-1F85-4952-8F66-0979D577C0E1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006C4-D5C1-0958-25E0-941329366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EFA58-F9C6-5BC9-70D4-F73F89BA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E330-0435-DD00-948B-22D1D64C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316" y="1013777"/>
            <a:ext cx="10469576" cy="701851"/>
          </a:xfrm>
        </p:spPr>
        <p:txBody>
          <a:bodyPr/>
          <a:lstStyle/>
          <a:p>
            <a:pPr algn="ctr"/>
            <a:r>
              <a:rPr lang="en-US" b="1">
                <a:latin typeface="Times New Roman"/>
                <a:ea typeface="+mj-lt"/>
                <a:cs typeface="Times New Roman"/>
              </a:rPr>
              <a:t>Performance Analytics</a:t>
            </a:r>
            <a:endParaRPr lang="en-US" b="1">
              <a:latin typeface="Times New Roman"/>
              <a:cs typeface="Times New Roman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C0AA236-12E7-E60E-C644-8FECC1DDD8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77888" y="2157413"/>
          <a:ext cx="1044257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1287">
                  <a:extLst>
                    <a:ext uri="{9D8B030D-6E8A-4147-A177-3AD203B41FA5}">
                      <a16:colId xmlns:a16="http://schemas.microsoft.com/office/drawing/2014/main" val="830671829"/>
                    </a:ext>
                  </a:extLst>
                </a:gridCol>
                <a:gridCol w="5221287">
                  <a:extLst>
                    <a:ext uri="{9D8B030D-6E8A-4147-A177-3AD203B41FA5}">
                      <a16:colId xmlns:a16="http://schemas.microsoft.com/office/drawing/2014/main" val="3006936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189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772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790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711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769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258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728565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3DF70-41CA-45CE-66E8-36C28A126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6422B-36CA-452C-9B0B-A748A154D488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173E9-1D65-9F7E-94A6-97F0159D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8E0F6-8800-CAEB-4240-E38D4AAE0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289BE3-B43B-A6CB-8604-8A2CC52BD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221893"/>
              </p:ext>
            </p:extLst>
          </p:nvPr>
        </p:nvGraphicFramePr>
        <p:xfrm>
          <a:off x="930233" y="2147454"/>
          <a:ext cx="10311806" cy="25626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55903">
                  <a:extLst>
                    <a:ext uri="{9D8B030D-6E8A-4147-A177-3AD203B41FA5}">
                      <a16:colId xmlns:a16="http://schemas.microsoft.com/office/drawing/2014/main" val="2058742"/>
                    </a:ext>
                  </a:extLst>
                </a:gridCol>
                <a:gridCol w="5155903">
                  <a:extLst>
                    <a:ext uri="{9D8B030D-6E8A-4147-A177-3AD203B41FA5}">
                      <a16:colId xmlns:a16="http://schemas.microsoft.com/office/drawing/2014/main" val="814362608"/>
                    </a:ext>
                  </a:extLst>
                </a:gridCol>
              </a:tblGrid>
              <a:tr h="3680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>
                          <a:latin typeface="Times New Roman"/>
                          <a:cs typeface="Times New Roman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u="sng">
                          <a:latin typeface="Times New Roman"/>
                          <a:cs typeface="Times New Roman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803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CAGR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Annualized growth measurement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119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Sharpe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Risk-adjusted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481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Sortino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Downside risk-adjusted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180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Alpha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Excess return over benchmark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422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Beta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Market sensitivity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219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Max Drawdown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Largest historical decline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451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28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7CB1-AC5C-E8BA-54D8-B01B83CF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807804"/>
            <a:ext cx="10449784" cy="684742"/>
          </a:xfrm>
        </p:spPr>
        <p:txBody>
          <a:bodyPr/>
          <a:lstStyle/>
          <a:p>
            <a:pPr algn="ctr"/>
            <a:r>
              <a:rPr lang="en-US" b="1">
                <a:latin typeface="Times New Roman"/>
                <a:ea typeface="+mj-lt"/>
                <a:cs typeface="Times New Roman"/>
              </a:rPr>
              <a:t>Advanced Analytics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11C48-B005-143C-24DB-7D0FBB2FF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848018"/>
            <a:ext cx="4527262" cy="390381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>
                <a:latin typeface="Times New Roman"/>
                <a:ea typeface="+mn-lt"/>
                <a:cs typeface="Times New Roman"/>
              </a:rPr>
              <a:t>Risk &amp; Investor Analytics</a:t>
            </a:r>
            <a:endParaRPr lang="en-US" b="1"/>
          </a:p>
          <a:p>
            <a:pPr marL="0" indent="0">
              <a:buNone/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Risk Analytics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Historical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VaR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(95%)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ea typeface="+mn-lt"/>
                <a:cs typeface="Times New Roman"/>
              </a:rPr>
              <a:t>Conditional </a:t>
            </a:r>
            <a:r>
              <a:rPr lang="en-US" sz="1800" dirty="0" err="1">
                <a:latin typeface="Times New Roman"/>
                <a:ea typeface="+mn-lt"/>
                <a:cs typeface="Times New Roman"/>
              </a:rPr>
              <a:t>VaR</a:t>
            </a:r>
            <a:r>
              <a:rPr lang="en-US" sz="1800" dirty="0">
                <a:latin typeface="Times New Roman"/>
                <a:ea typeface="+mn-lt"/>
                <a:cs typeface="Times New Roman"/>
              </a:rPr>
              <a:t> (CVaR)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Rolling 90-Day Sharpe Ratio </a:t>
            </a:r>
            <a:endParaRPr lang="en-US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800" b="1">
                <a:latin typeface="Times New Roman"/>
                <a:ea typeface="+mn-lt"/>
                <a:cs typeface="Times New Roman"/>
              </a:rPr>
              <a:t>Investor Analytics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Cohort Analysis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SIP Continuity Analysis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At-Risk Investor Identification</a:t>
            </a:r>
            <a:endParaRPr lang="en-US" sz="180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A6E1B-542D-0BDF-E002-D592FAFF5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B1044-BB75-47ED-BED0-FCDB6EE96AEF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CCFF4-B50C-B957-F66D-D4F8F64B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782D4-A5B7-A188-3355-9E43FC8D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13C5F2-089F-FE24-644C-69A2BDE809B1}"/>
              </a:ext>
            </a:extLst>
          </p:cNvPr>
          <p:cNvSpPr txBox="1"/>
          <p:nvPr/>
        </p:nvSpPr>
        <p:spPr>
          <a:xfrm>
            <a:off x="5395455" y="1923326"/>
            <a:ext cx="6028549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Fund Recommendation Engine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Built using Sharpe Ratio and Risk Grade </a:t>
            </a:r>
            <a:endParaRPr lang="en-US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Recommends top funds based on investor risk appetite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800" b="1">
                <a:latin typeface="Times New Roman"/>
                <a:cs typeface="Times New Roman"/>
              </a:rPr>
              <a:t>Business Value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Improves investment decision-making </a:t>
            </a:r>
            <a:endParaRPr lang="en-US" sz="24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Helps identify investor retention risks 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Supports personalized fund recommendations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18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41D2B-D466-CFE7-BC3D-FFFF357E7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AF28-F6EA-480B-3A57-40C29DF50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807804"/>
            <a:ext cx="10449784" cy="684742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Times New Roman"/>
                <a:ea typeface="+mj-lt"/>
                <a:cs typeface="Times New Roman"/>
              </a:rPr>
              <a:t>Dashboard Overview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0F9E0-CFC4-4D3E-3EF1-96C6473BC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848018"/>
            <a:ext cx="4527262" cy="39038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600" b="1">
                <a:latin typeface="Times New Roman"/>
                <a:cs typeface="Times New Roman"/>
              </a:rPr>
              <a:t>Tableau Dashboard </a:t>
            </a:r>
            <a:r>
              <a:rPr lang="en-US" sz="2600" b="1">
                <a:latin typeface="Times New Roman"/>
                <a:ea typeface="+mn-lt"/>
                <a:cs typeface="Times New Roman"/>
              </a:rPr>
              <a:t>Features</a:t>
            </a:r>
            <a:endParaRPr lang="en-US"/>
          </a:p>
          <a:p>
            <a:pPr marL="457200" indent="-457200"/>
            <a:r>
              <a:rPr lang="en-US" sz="2600">
                <a:latin typeface="Times New Roman"/>
                <a:ea typeface="+mn-lt"/>
                <a:cs typeface="Times New Roman"/>
              </a:rPr>
              <a:t>KPI Monitoring </a:t>
            </a:r>
            <a:endParaRPr lang="en-US">
              <a:latin typeface="Times New Roman"/>
              <a:cs typeface="Times New Roman"/>
            </a:endParaRPr>
          </a:p>
          <a:p>
            <a:pPr marL="457200" indent="-457200"/>
            <a:r>
              <a:rPr lang="en-US" sz="2600">
                <a:latin typeface="Times New Roman"/>
                <a:ea typeface="+mn-lt"/>
                <a:cs typeface="Times New Roman"/>
              </a:rPr>
              <a:t>Fund House Comparison </a:t>
            </a:r>
            <a:endParaRPr lang="en-US">
              <a:latin typeface="Times New Roman"/>
              <a:cs typeface="Times New Roman"/>
            </a:endParaRPr>
          </a:p>
          <a:p>
            <a:pPr marL="457200" indent="-457200"/>
            <a:r>
              <a:rPr lang="en-US" sz="2600">
                <a:latin typeface="Times New Roman"/>
                <a:ea typeface="+mn-lt"/>
                <a:cs typeface="Times New Roman"/>
              </a:rPr>
              <a:t>SIP Inflow Analysis </a:t>
            </a:r>
            <a:endParaRPr lang="en-US" sz="2600" dirty="0">
              <a:latin typeface="Times New Roman"/>
              <a:cs typeface="Times New Roman"/>
            </a:endParaRPr>
          </a:p>
          <a:p>
            <a:pPr marL="457200" indent="-457200"/>
            <a:r>
              <a:rPr lang="en-US" sz="2600">
                <a:latin typeface="Times New Roman"/>
                <a:ea typeface="+mn-lt"/>
                <a:cs typeface="Times New Roman"/>
              </a:rPr>
              <a:t>Investment Trend Tracking </a:t>
            </a:r>
            <a:endParaRPr lang="en-US">
              <a:latin typeface="Times New Roman"/>
              <a:cs typeface="Times New Roman"/>
            </a:endParaRPr>
          </a:p>
          <a:p>
            <a:pPr marL="457200" indent="-457200"/>
            <a:r>
              <a:rPr lang="en-US" sz="2600">
                <a:latin typeface="Times New Roman"/>
                <a:ea typeface="+mn-lt"/>
                <a:cs typeface="Times New Roman"/>
              </a:rPr>
              <a:t>Scheme Distribution Analysis</a:t>
            </a:r>
            <a:endParaRPr lang="en-US" sz="2600" dirty="0">
              <a:latin typeface="Times New Roman"/>
              <a:cs typeface="Times New Roman"/>
            </a:endParaRPr>
          </a:p>
          <a:p>
            <a:pPr marL="457200" indent="-457200"/>
            <a:endParaRPr lang="en-US" sz="2600" dirty="0">
              <a:latin typeface="Times New Roman"/>
              <a:cs typeface="Times New Roman"/>
            </a:endParaRPr>
          </a:p>
          <a:p>
            <a:pPr marL="285750" indent="-28575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E5C3C-90D7-EBE8-F0A6-8E18A3DF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B1044-BB75-47ED-BED0-FCDB6EE96AEF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C0A41-A0C6-6F6B-63E0-12642824C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EF53F-0FDE-708C-6AB5-DCA6731D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1A8625-6073-51CC-F76E-FA1A9732D1E8}"/>
              </a:ext>
            </a:extLst>
          </p:cNvPr>
          <p:cNvSpPr txBox="1"/>
          <p:nvPr/>
        </p:nvSpPr>
        <p:spPr>
          <a:xfrm>
            <a:off x="5662650" y="1844157"/>
            <a:ext cx="6028549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Benefits</a:t>
            </a:r>
          </a:p>
          <a:p>
            <a:pPr marL="285750" indent="-285750">
              <a:buFont typeface="Arial"/>
              <a:buChar char="•"/>
            </a:pPr>
            <a:r>
              <a:rPr lang="en-US" sz="3200">
                <a:latin typeface="Times New Roman"/>
                <a:ea typeface="+mn-lt"/>
                <a:cs typeface="Times New Roman"/>
              </a:rPr>
              <a:t>Interactive filtering </a:t>
            </a:r>
            <a:endParaRPr lang="en-US" sz="32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latin typeface="Times New Roman"/>
                <a:ea typeface="+mn-lt"/>
                <a:cs typeface="Times New Roman"/>
              </a:rPr>
              <a:t>Easy comparison of fund performance </a:t>
            </a:r>
            <a:endParaRPr lang="en-US" sz="32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latin typeface="Times New Roman"/>
                <a:ea typeface="+mn-lt"/>
                <a:cs typeface="Times New Roman"/>
              </a:rPr>
              <a:t>Quick identification of market trends</a:t>
            </a:r>
            <a:endParaRPr lang="en-US" sz="3600">
              <a:latin typeface="Times New Roman"/>
              <a:cs typeface="Times New Roman"/>
            </a:endParaRPr>
          </a:p>
          <a:p>
            <a:endParaRPr lang="en-US" sz="2400" b="1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3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09905-479B-8AAB-9852-D37F94ADB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9BAA-BA9E-84B9-D4A7-30B9CF35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634347"/>
            <a:ext cx="10449784" cy="716131"/>
          </a:xfrm>
        </p:spPr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Dashboard Visualizations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65850-B0CD-7EE0-3A8B-0234964A2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F66ED-CD6D-434E-929B-3FE7DC1F89CE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EB527-36A5-DC13-C9F1-9D2107C7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A2BAF-C94F-DE7A-4C76-B9D8D4B4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9</a:t>
            </a:fld>
            <a:endParaRPr lang="en-US" dirty="0"/>
          </a:p>
        </p:txBody>
      </p:sp>
      <p:pic>
        <p:nvPicPr>
          <p:cNvPr id="16" name="Content Placeholder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0ECECB-CC0A-60B4-EDCB-E5F352950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189" y="3488256"/>
            <a:ext cx="4891958" cy="2870598"/>
          </a:xfrm>
          <a:prstGeom prst="rect">
            <a:avLst/>
          </a:prstGeom>
        </p:spPr>
      </p:pic>
      <p:pic>
        <p:nvPicPr>
          <p:cNvPr id="17" name="Picture 1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70C97B0-1DCF-F3BD-CA10-7674E2E32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" t="-1075" r="77685" b="81106"/>
          <a:stretch>
            <a:fillRect/>
          </a:stretch>
        </p:blipFill>
        <p:spPr>
          <a:xfrm>
            <a:off x="1040581" y="1346207"/>
            <a:ext cx="2402203" cy="1822191"/>
          </a:xfrm>
          <a:prstGeom prst="rect">
            <a:avLst/>
          </a:prstGeom>
        </p:spPr>
      </p:pic>
      <p:pic>
        <p:nvPicPr>
          <p:cNvPr id="18" name="Picture 17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1200DC41-EABA-6C73-84E8-0AB00F2D28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0871" b="80791"/>
          <a:stretch>
            <a:fillRect/>
          </a:stretch>
        </p:blipFill>
        <p:spPr>
          <a:xfrm>
            <a:off x="3494145" y="1498170"/>
            <a:ext cx="2776569" cy="1678987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95D386-4ADC-4946-A073-9CB0FE95927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457" t="19835" r="57075" b="65851"/>
          <a:stretch>
            <a:fillRect/>
          </a:stretch>
        </p:blipFill>
        <p:spPr>
          <a:xfrm>
            <a:off x="6264998" y="1502374"/>
            <a:ext cx="2773194" cy="1679098"/>
          </a:xfrm>
          <a:prstGeom prst="rect">
            <a:avLst/>
          </a:prstGeom>
        </p:spPr>
      </p:pic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7BF706-D51B-AD7D-B68C-F686D099C5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666" t="19830" r="57574" b="63277"/>
          <a:stretch>
            <a:fillRect/>
          </a:stretch>
        </p:blipFill>
        <p:spPr>
          <a:xfrm>
            <a:off x="8960117" y="1359938"/>
            <a:ext cx="2373442" cy="1817220"/>
          </a:xfrm>
          <a:prstGeom prst="rect">
            <a:avLst/>
          </a:prstGeom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2F3AAE-5B73-8F23-B8B9-31A16B2DD6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440" y="3512949"/>
            <a:ext cx="4881257" cy="284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9B8E-87D3-641A-B7FC-0E9536BB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27" y="766374"/>
            <a:ext cx="10499264" cy="701851"/>
          </a:xfrm>
        </p:spPr>
        <p:txBody>
          <a:bodyPr/>
          <a:lstStyle/>
          <a:p>
            <a:pPr algn="ctr"/>
            <a:r>
              <a:rPr lang="en-US" b="1">
                <a:latin typeface="Times New Roman"/>
                <a:cs typeface="Times New Roman"/>
              </a:rPr>
              <a:t>Dashboard Insights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C354F-0B33-1CC6-FBDD-C9F891262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>
                <a:latin typeface="Times New Roman"/>
                <a:cs typeface="Times New Roman"/>
              </a:rPr>
              <a:t>Major Insights Generated</a:t>
            </a:r>
            <a:endParaRPr lang="en-US"/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SIP participation remained the dominant investment mode.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ea typeface="+mn-lt"/>
                <a:cs typeface="Times New Roman"/>
              </a:rPr>
              <a:t>Leading AMCs controlled a significant portion of total AUM.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Investment trends showed sustained market growth.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Risk-adjusted metrics highlighted high-performing schemes.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Investor participation continued to expand across categories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99871-0ACC-4E7A-6DEE-C257B7528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317C-7EF1-41F1-AD88-1B5221016F61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BF751-4251-5257-CFED-E134DFCDD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53255-CF6F-D764-1916-ABDC02B2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54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C394F-DF19-7CDC-A475-5642FF2A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396" y="536583"/>
            <a:ext cx="3514293" cy="658912"/>
          </a:xfrm>
        </p:spPr>
        <p:txBody>
          <a:bodyPr/>
          <a:lstStyle/>
          <a:p>
            <a:r>
              <a:rPr lang="en-US" b="1">
                <a:latin typeface="Times New Roman"/>
                <a:ea typeface="+mj-lt"/>
                <a:cs typeface="Times New Roman"/>
              </a:rPr>
              <a:t>Recommendations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2BFCC-7347-55C5-3E29-B7460EBF7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512222"/>
            <a:ext cx="10532854" cy="454958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/>
                <a:cs typeface="Times New Roman"/>
              </a:rPr>
              <a:t>For Investors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latin typeface="Times New Roman"/>
                <a:cs typeface="Times New Roman"/>
              </a:rPr>
              <a:t>Focus on risk-adjusted returns rather than returns alone. </a:t>
            </a:r>
          </a:p>
          <a:p>
            <a:pPr>
              <a:lnSpc>
                <a:spcPct val="100000"/>
              </a:lnSpc>
            </a:pPr>
            <a:r>
              <a:rPr lang="en-US">
                <a:latin typeface="Times New Roman"/>
                <a:cs typeface="Times New Roman"/>
              </a:rPr>
              <a:t>Maintain SIP continuity for long-term wealth creation. </a:t>
            </a:r>
          </a:p>
          <a:p>
            <a:pPr>
              <a:lnSpc>
                <a:spcPct val="100000"/>
              </a:lnSpc>
            </a:pPr>
            <a:r>
              <a:rPr lang="en-US">
                <a:latin typeface="Times New Roman"/>
                <a:cs typeface="Times New Roman"/>
              </a:rPr>
              <a:t>Diversify investments across fund categories.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/>
                <a:cs typeface="Times New Roman"/>
              </a:rPr>
              <a:t>For Asset Management Companies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Times New Roman"/>
                <a:cs typeface="Times New Roman"/>
              </a:rPr>
              <a:t>Improve investor engagement to reduce SIP discontinuation. </a:t>
            </a:r>
          </a:p>
          <a:p>
            <a:pPr>
              <a:lnSpc>
                <a:spcPct val="100000"/>
              </a:lnSpc>
            </a:pPr>
            <a:r>
              <a:rPr lang="en-US">
                <a:latin typeface="Times New Roman"/>
                <a:cs typeface="Times New Roman"/>
              </a:rPr>
              <a:t>Promote direct plans for cost-conscious investors. </a:t>
            </a:r>
          </a:p>
          <a:p>
            <a:pPr>
              <a:lnSpc>
                <a:spcPct val="100000"/>
              </a:lnSpc>
            </a:pPr>
            <a:r>
              <a:rPr lang="en-US">
                <a:latin typeface="Times New Roman"/>
                <a:cs typeface="Times New Roman"/>
              </a:rPr>
              <a:t>Use analytics-driven insights for product positioning.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>
                <a:latin typeface="Times New Roman"/>
                <a:cs typeface="Times New Roman"/>
              </a:rPr>
              <a:t>Future Enhancements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US">
                <a:latin typeface="Times New Roman"/>
                <a:cs typeface="Times New Roman"/>
              </a:rPr>
              <a:t>Real-time market data integration </a:t>
            </a:r>
          </a:p>
          <a:p>
            <a:pPr>
              <a:lnSpc>
                <a:spcPct val="100000"/>
              </a:lnSpc>
            </a:pPr>
            <a:r>
              <a:rPr lang="en-US">
                <a:latin typeface="Times New Roman"/>
                <a:cs typeface="Times New Roman"/>
              </a:rPr>
              <a:t>Machine Learning-based fund recommendations </a:t>
            </a:r>
          </a:p>
          <a:p>
            <a:pPr>
              <a:lnSpc>
                <a:spcPct val="100000"/>
              </a:lnSpc>
            </a:pPr>
            <a:r>
              <a:rPr lang="en-US">
                <a:latin typeface="Times New Roman"/>
                <a:cs typeface="Times New Roman"/>
              </a:rPr>
              <a:t>Predictive investor churn analysis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4ED6-A0CB-981F-103F-D5E0745F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38E3B-B65C-45D6-805D-460B0E1AC7F6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23BC3-C84E-91FB-462A-1420E993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8C214-014C-6857-85FB-78B87760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23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4023-9924-AF39-079B-686AC950B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419" y="647621"/>
            <a:ext cx="10479472" cy="820604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latin typeface="Times New Roman"/>
                <a:ea typeface="+mj-lt"/>
                <a:cs typeface="Times New Roman"/>
              </a:rPr>
              <a:t>Conclusion &amp; Thank You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82820-19DC-A2F0-E7CC-66BE5C413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latin typeface="Times New Roman"/>
                <a:cs typeface="Times New Roman"/>
              </a:rPr>
              <a:t>Project Conclusion</a:t>
            </a:r>
          </a:p>
          <a:p>
            <a:r>
              <a:rPr lang="en-US" sz="2600">
                <a:latin typeface="Times New Roman"/>
                <a:ea typeface="+mn-lt"/>
                <a:cs typeface="Times New Roman"/>
              </a:rPr>
              <a:t>Successfully built an end-to-end Mutual Fund Analytics solution. </a:t>
            </a:r>
            <a:endParaRPr lang="en-US" sz="2600">
              <a:latin typeface="Times New Roman"/>
              <a:cs typeface="Times New Roman"/>
            </a:endParaRPr>
          </a:p>
          <a:p>
            <a:r>
              <a:rPr lang="en-US" sz="2600">
                <a:latin typeface="Times New Roman"/>
                <a:ea typeface="+mn-lt"/>
                <a:cs typeface="Times New Roman"/>
              </a:rPr>
              <a:t>Performed ETL, EDA, performance analysis, and advanced risk analytics. </a:t>
            </a:r>
            <a:endParaRPr lang="en-US" sz="2600">
              <a:latin typeface="Times New Roman"/>
              <a:cs typeface="Times New Roman"/>
            </a:endParaRPr>
          </a:p>
          <a:p>
            <a:r>
              <a:rPr lang="en-US" sz="2600">
                <a:latin typeface="Times New Roman"/>
                <a:ea typeface="+mn-lt"/>
                <a:cs typeface="Times New Roman"/>
              </a:rPr>
              <a:t>Developed interactive Tableau dashboards for business reporting. </a:t>
            </a:r>
            <a:endParaRPr lang="en-US" sz="2600">
              <a:latin typeface="Times New Roman"/>
              <a:cs typeface="Times New Roman"/>
            </a:endParaRPr>
          </a:p>
          <a:p>
            <a:r>
              <a:rPr lang="en-US" sz="2600">
                <a:latin typeface="Times New Roman"/>
                <a:ea typeface="+mn-lt"/>
                <a:cs typeface="Times New Roman"/>
              </a:rPr>
              <a:t>Generated actionable insights into fund performance and investor behavior.</a:t>
            </a:r>
            <a:endParaRPr lang="en-US" sz="260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998E2-2FA7-FE70-B20A-E262C7BB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73272-771A-42FF-80CD-DAF7CC4ABC0E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B3CA5-7FF9-BE57-7167-BBE2DD7B2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04F36-933D-1B60-FBAB-06294BD4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210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4AFC-0D1D-E447-7FEE-BFDD49A9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27" y="667414"/>
            <a:ext cx="10499264" cy="761227"/>
          </a:xfrm>
        </p:spPr>
        <p:txBody>
          <a:bodyPr/>
          <a:lstStyle/>
          <a:p>
            <a:pPr algn="ctr"/>
            <a:r>
              <a:rPr lang="en-US" b="1">
                <a:latin typeface="Times New Roman"/>
                <a:ea typeface="+mj-lt"/>
                <a:cs typeface="Times New Roman"/>
              </a:rPr>
              <a:t>Skills Applied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BEF5-8847-5BD2-E9CC-471D5D96E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Times New Roman"/>
                <a:cs typeface="Times New Roman"/>
              </a:rPr>
              <a:t>Skills Applied</a:t>
            </a: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Python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Pandas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Data Analytics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Tableau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Business Intelligence </a:t>
            </a:r>
            <a:endParaRPr lang="en-US" sz="1800">
              <a:latin typeface="Times New Roman"/>
              <a:cs typeface="Times New Roman"/>
            </a:endParaRPr>
          </a:p>
          <a:p>
            <a:r>
              <a:rPr lang="en-US" sz="1800">
                <a:latin typeface="Times New Roman"/>
                <a:ea typeface="+mn-lt"/>
                <a:cs typeface="Times New Roman"/>
              </a:rPr>
              <a:t>GitHub Version Control </a:t>
            </a:r>
            <a:endParaRPr lang="en-US" sz="18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/>
                <a:ea typeface="+mn-lt"/>
                <a:cs typeface="Times New Roman"/>
              </a:rPr>
              <a:t>                                                        </a:t>
            </a:r>
            <a:r>
              <a:rPr lang="en-US" b="1" dirty="0">
                <a:ea typeface="+mn-lt"/>
                <a:cs typeface="+mn-lt"/>
              </a:rPr>
              <a:t>                            </a:t>
            </a:r>
            <a:r>
              <a:rPr lang="en-US" sz="2400" b="1" dirty="0">
                <a:latin typeface="Times New Roman"/>
                <a:ea typeface="+mn-lt"/>
                <a:cs typeface="Times New Roman"/>
              </a:rPr>
              <a:t> </a:t>
            </a:r>
            <a:r>
              <a:rPr lang="en-US" sz="2400" b="1" u="sng">
                <a:latin typeface="Times New Roman"/>
                <a:ea typeface="+mn-lt"/>
                <a:cs typeface="Times New Roman"/>
              </a:rPr>
              <a:t>Thank You</a:t>
            </a:r>
            <a:endParaRPr lang="en-US" sz="2400" u="sng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360DA-EA53-E53C-5073-BDA2D3BF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8FC0-2B22-402C-8B57-750B24FC5C07}" type="datetime1">
              <a:t>6/11/2026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920FE-4CF7-8F2C-454D-810FE25A6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58207-FCAC-83D3-2851-A0C2A48C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213921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BohoVogueVTI</vt:lpstr>
      <vt:lpstr>BLUESTOCK MUTUAL FUND ANALYTICS Capstone Project </vt:lpstr>
      <vt:lpstr>Problem Statement</vt:lpstr>
      <vt:lpstr>Data Sources and Project Architecture</vt:lpstr>
      <vt:lpstr>EDA Highlights</vt:lpstr>
      <vt:lpstr>PowerPoint Presentation</vt:lpstr>
      <vt:lpstr>Performance Analytics</vt:lpstr>
      <vt:lpstr>Advanced Analytics</vt:lpstr>
      <vt:lpstr>Dashboard Overview</vt:lpstr>
      <vt:lpstr>Dashboard Visualizations</vt:lpstr>
      <vt:lpstr>Dashboard Insights </vt:lpstr>
      <vt:lpstr>Recommendations</vt:lpstr>
      <vt:lpstr>Conclusion &amp; Thank You</vt:lpstr>
      <vt:lpstr>Skills Applied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282</cp:revision>
  <dcterms:created xsi:type="dcterms:W3CDTF">2026-06-11T09:44:05Z</dcterms:created>
  <dcterms:modified xsi:type="dcterms:W3CDTF">2026-06-11T10:27:00Z</dcterms:modified>
</cp:coreProperties>
</file>